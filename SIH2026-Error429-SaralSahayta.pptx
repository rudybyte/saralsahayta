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530C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17" autoAdjust="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275" y="9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1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btbharat.gov.in" TargetMode="External"/><Relationship Id="rId13" Type="http://schemas.openxmlformats.org/officeDocument/2006/relationships/hyperlink" Target="https://tesseract.projectnaptha.com" TargetMode="External"/><Relationship Id="rId18" Type="http://schemas.openxmlformats.org/officeDocument/2006/relationships/hyperlink" Target="https://vercel.com/docs" TargetMode="External"/><Relationship Id="rId3" Type="http://schemas.openxmlformats.org/officeDocument/2006/relationships/image" Target="../media/image2.png"/><Relationship Id="rId21" Type="http://schemas.openxmlformats.org/officeDocument/2006/relationships/hyperlink" Target="https://saral-sahayta.vercel.app/" TargetMode="External"/><Relationship Id="rId7" Type="http://schemas.openxmlformats.org/officeDocument/2006/relationships/hyperlink" Target="https://scholarships.gov.in" TargetMode="External"/><Relationship Id="rId12" Type="http://schemas.openxmlformats.org/officeDocument/2006/relationships/image" Target="../media/image8.png"/><Relationship Id="rId17" Type="http://schemas.openxmlformats.org/officeDocument/2006/relationships/hyperlink" Target="https://nextjs.org/docs" TargetMode="External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pdf-lib.js.org" TargetMode="External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yscheme.gov.in" TargetMode="External"/><Relationship Id="rId11" Type="http://schemas.openxmlformats.org/officeDocument/2006/relationships/hyperlink" Target="https://uidai.gov.in" TargetMode="External"/><Relationship Id="rId5" Type="http://schemas.openxmlformats.org/officeDocument/2006/relationships/image" Target="../media/image24.png"/><Relationship Id="rId15" Type="http://schemas.openxmlformats.org/officeDocument/2006/relationships/hyperlink" Target="https://supabase.com/docs" TargetMode="External"/><Relationship Id="rId10" Type="http://schemas.openxmlformats.org/officeDocument/2006/relationships/hyperlink" Target="https://india.gov.in/schemes" TargetMode="External"/><Relationship Id="rId19" Type="http://schemas.openxmlformats.org/officeDocument/2006/relationships/hyperlink" Target="https://youtu.be/K8FrSU-rOlc?si=23FwoZ7TFDrbaXIE" TargetMode="External"/><Relationship Id="rId4" Type="http://schemas.openxmlformats.org/officeDocument/2006/relationships/image" Target="../media/image35.png"/><Relationship Id="rId9" Type="http://schemas.openxmlformats.org/officeDocument/2006/relationships/hyperlink" Target="https://digilocker.gov.in" TargetMode="External"/><Relationship Id="rId14" Type="http://schemas.openxmlformats.org/officeDocument/2006/relationships/hyperlink" Target="https://console.groq.com/docs" TargetMode="External"/><Relationship Id="rId22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66928" y="2249424"/>
            <a:ext cx="5852160" cy="3611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95000"/>
              </a:lnSpc>
              <a:spcAft>
                <a:spcPts val="2550"/>
              </a:spcAft>
              <a:buFont typeface="Arial"/>
              <a:buChar char="•"/>
            </a:pPr>
            <a:r>
              <a:rPr sz="1900" b="1" i="0" dirty="0">
                <a:solidFill>
                  <a:srgbClr val="12325C"/>
                </a:solidFill>
                <a:latin typeface="Arial"/>
              </a:rPr>
              <a:t>Problem Statement ID – </a:t>
            </a:r>
            <a:r>
              <a:rPr lang="en-IN" sz="1900" b="1" i="0" dirty="0">
                <a:solidFill>
                  <a:srgbClr val="C2530C"/>
                </a:solidFill>
                <a:latin typeface="Arial"/>
              </a:rPr>
              <a:t>26092</a:t>
            </a:r>
            <a:endParaRPr sz="1900" b="1" i="0" dirty="0">
              <a:solidFill>
                <a:srgbClr val="C2530C"/>
              </a:solidFill>
              <a:latin typeface="Arial"/>
            </a:endParaRPr>
          </a:p>
          <a:p>
            <a:pPr marL="274320" indent="-274320" algn="l">
              <a:lnSpc>
                <a:spcPct val="95000"/>
              </a:lnSpc>
              <a:spcAft>
                <a:spcPts val="2550"/>
              </a:spcAft>
              <a:buFont typeface="Arial"/>
              <a:buChar char="•"/>
            </a:pPr>
            <a:r>
              <a:rPr sz="1900" b="1" i="0" dirty="0">
                <a:solidFill>
                  <a:srgbClr val="12325C"/>
                </a:solidFill>
                <a:latin typeface="Arial"/>
              </a:rPr>
              <a:t>Problem Statement Title – </a:t>
            </a:r>
            <a:r>
              <a:rPr lang="en-IN" sz="1900" b="1" i="0" dirty="0">
                <a:solidFill>
                  <a:srgbClr val="C2530C"/>
                </a:solidFill>
                <a:latin typeface="Arial"/>
              </a:rPr>
              <a:t>AI-Driven Scheme Matching for Marginalized Entrepreneurs</a:t>
            </a:r>
            <a:endParaRPr sz="1900" b="1" i="0" dirty="0">
              <a:solidFill>
                <a:srgbClr val="C2530C"/>
              </a:solidFill>
              <a:latin typeface="Arial"/>
            </a:endParaRPr>
          </a:p>
          <a:p>
            <a:pPr marL="274320" indent="-274320" algn="l">
              <a:lnSpc>
                <a:spcPct val="95000"/>
              </a:lnSpc>
              <a:spcAft>
                <a:spcPts val="2550"/>
              </a:spcAft>
              <a:buFont typeface="Arial"/>
              <a:buChar char="•"/>
            </a:pPr>
            <a:r>
              <a:rPr sz="1900" b="1" i="0" dirty="0">
                <a:solidFill>
                  <a:srgbClr val="12325C"/>
                </a:solidFill>
                <a:latin typeface="Arial"/>
              </a:rPr>
              <a:t>Theme – </a:t>
            </a:r>
            <a:r>
              <a:rPr sz="1900" b="1" i="0" dirty="0">
                <a:solidFill>
                  <a:srgbClr val="C2530C"/>
                </a:solidFill>
                <a:latin typeface="Arial"/>
              </a:rPr>
              <a:t>Miscellaneous</a:t>
            </a:r>
          </a:p>
          <a:p>
            <a:pPr marL="274320" indent="-274320" algn="l">
              <a:lnSpc>
                <a:spcPct val="95000"/>
              </a:lnSpc>
              <a:spcAft>
                <a:spcPts val="2550"/>
              </a:spcAft>
              <a:buFont typeface="Arial"/>
              <a:buChar char="•"/>
            </a:pPr>
            <a:r>
              <a:rPr sz="1900" b="1" i="0" dirty="0">
                <a:solidFill>
                  <a:srgbClr val="12325C"/>
                </a:solidFill>
                <a:latin typeface="Arial"/>
              </a:rPr>
              <a:t>PS Category – </a:t>
            </a:r>
            <a:r>
              <a:rPr sz="1900" b="1" i="0" dirty="0">
                <a:solidFill>
                  <a:srgbClr val="C2530C"/>
                </a:solidFill>
                <a:latin typeface="Arial"/>
              </a:rPr>
              <a:t>Software</a:t>
            </a:r>
          </a:p>
          <a:p>
            <a:pPr marL="274320" indent="-274320" algn="l">
              <a:lnSpc>
                <a:spcPct val="95000"/>
              </a:lnSpc>
              <a:spcAft>
                <a:spcPts val="2550"/>
              </a:spcAft>
              <a:buFont typeface="Arial"/>
              <a:buChar char="•"/>
            </a:pPr>
            <a:r>
              <a:rPr sz="1900" b="1" i="0" dirty="0">
                <a:solidFill>
                  <a:srgbClr val="12325C"/>
                </a:solidFill>
                <a:latin typeface="Arial"/>
              </a:rPr>
              <a:t>Team ID – </a:t>
            </a:r>
            <a:r>
              <a:rPr sz="1900" b="1" i="0" dirty="0">
                <a:solidFill>
                  <a:srgbClr val="C2530C"/>
                </a:solidFill>
                <a:latin typeface="Arial"/>
              </a:rPr>
              <a:t>PPSU/SIH2026/08</a:t>
            </a:r>
          </a:p>
          <a:p>
            <a:pPr marL="274320" indent="-274320" algn="l">
              <a:lnSpc>
                <a:spcPct val="95000"/>
              </a:lnSpc>
              <a:spcAft>
                <a:spcPts val="2550"/>
              </a:spcAft>
              <a:buFont typeface="Arial"/>
              <a:buChar char="•"/>
            </a:pPr>
            <a:r>
              <a:rPr sz="1900" b="1" i="0" dirty="0">
                <a:solidFill>
                  <a:srgbClr val="12325C"/>
                </a:solidFill>
                <a:latin typeface="Arial"/>
              </a:rPr>
              <a:t>Team Name – </a:t>
            </a:r>
            <a:r>
              <a:rPr sz="1900" b="1" i="0" dirty="0">
                <a:solidFill>
                  <a:srgbClr val="C2530C"/>
                </a:solidFill>
                <a:latin typeface="Arial"/>
              </a:rPr>
              <a:t>Error 429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0"/>
            <a:ext cx="80010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SARAL SAHAYTA – UNIVERSAL SCHEME GATEWAY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2325C"/>
                </a:solidFill>
                <a:latin typeface="Arial"/>
              </a:rPr>
              <a:t>Error 429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84048" y="1115568"/>
            <a:ext cx="11423873" cy="1060704"/>
          </a:xfrm>
          <a:prstGeom prst="roundRect">
            <a:avLst>
              <a:gd name="adj" fmla="val 5000"/>
            </a:avLst>
          </a:prstGeom>
          <a:solidFill>
            <a:srgbClr val="12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3" name="Oval 15362"/>
          <p:cNvSpPr/>
          <p:nvPr/>
        </p:nvSpPr>
        <p:spPr>
          <a:xfrm>
            <a:off x="658368" y="1389888"/>
            <a:ext cx="512064" cy="512064"/>
          </a:xfrm>
          <a:prstGeom prst="ellipse">
            <a:avLst/>
          </a:prstGeom>
          <a:solidFill>
            <a:srgbClr val="2B5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64" name="Picture 15363" descr="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1517904"/>
            <a:ext cx="256032" cy="256032"/>
          </a:xfrm>
          <a:prstGeom prst="rect">
            <a:avLst/>
          </a:prstGeom>
        </p:spPr>
      </p:pic>
      <p:sp>
        <p:nvSpPr>
          <p:cNvPr id="15365" name="TextBox 15364"/>
          <p:cNvSpPr txBox="1"/>
          <p:nvPr/>
        </p:nvSpPr>
        <p:spPr>
          <a:xfrm>
            <a:off x="1316736" y="1261872"/>
            <a:ext cx="1019857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D5E3F7"/>
                </a:solidFill>
                <a:latin typeface="Arial"/>
              </a:rPr>
              <a:t>Proposed Solution (Describe your Idea/Solution/Prototype)</a:t>
            </a:r>
          </a:p>
          <a:p>
            <a:pPr algn="l">
              <a:lnSpc>
                <a:spcPct val="95000"/>
              </a:lnSpc>
              <a:buNone/>
            </a:pPr>
            <a:r>
              <a:rPr sz="1450" b="1" i="0">
                <a:solidFill>
                  <a:srgbClr val="FFFFFF"/>
                </a:solidFill>
                <a:latin typeface="Arial"/>
              </a:rPr>
              <a:t>One profile, and a citizen instantly sees every central and state scheme they qualify for — then applies with auto-filled forms and a ready-to-submit document kit.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384048" y="2377440"/>
            <a:ext cx="3661653" cy="3675887"/>
          </a:xfrm>
          <a:prstGeom prst="roundRect">
            <a:avLst>
              <a:gd name="adj" fmla="val 3500"/>
            </a:avLst>
          </a:prstGeom>
          <a:solidFill>
            <a:srgbClr val="EFF5FC"/>
          </a:solidFill>
          <a:ln w="9525">
            <a:solidFill>
              <a:srgbClr val="D2E1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7" name="Oval 15366"/>
          <p:cNvSpPr/>
          <p:nvPr/>
        </p:nvSpPr>
        <p:spPr>
          <a:xfrm>
            <a:off x="621792" y="2596896"/>
            <a:ext cx="384048" cy="384048"/>
          </a:xfrm>
          <a:prstGeom prst="ellipse">
            <a:avLst/>
          </a:prstGeom>
          <a:solidFill>
            <a:srgbClr val="12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68" name="Picture 15367" descr="lay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3" y="2692908"/>
            <a:ext cx="192024" cy="192024"/>
          </a:xfrm>
          <a:prstGeom prst="rect">
            <a:avLst/>
          </a:prstGeom>
        </p:spPr>
      </p:pic>
      <p:sp>
        <p:nvSpPr>
          <p:cNvPr id="15369" name="TextBox 15368"/>
          <p:cNvSpPr txBox="1"/>
          <p:nvPr/>
        </p:nvSpPr>
        <p:spPr>
          <a:xfrm>
            <a:off x="1133855" y="2615184"/>
            <a:ext cx="2674101" cy="471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300" b="1" i="0">
                <a:solidFill>
                  <a:srgbClr val="12325C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621792" y="3236976"/>
            <a:ext cx="3186165" cy="2578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304" indent="-146304" algn="l">
              <a:lnSpc>
                <a:spcPct val="94000"/>
              </a:lnSpc>
              <a:spcAft>
                <a:spcPts val="1409"/>
              </a:spcAft>
              <a:buFont typeface="Arial"/>
              <a:buChar char="•"/>
            </a:pPr>
            <a:r>
              <a:rPr sz="1300" b="1" i="0">
                <a:solidFill>
                  <a:srgbClr val="12325C"/>
                </a:solidFill>
                <a:latin typeface="Arial"/>
              </a:rPr>
              <a:t>One profile — </a:t>
            </a:r>
            <a:r>
              <a:rPr sz="1300" b="0" i="0">
                <a:solidFill>
                  <a:srgbClr val="161C24"/>
                </a:solidFill>
                <a:latin typeface="Arial"/>
              </a:rPr>
              <a:t>every scheme scored, with the reason shown</a:t>
            </a:r>
          </a:p>
          <a:p>
            <a:pPr marL="146304" indent="-146304" algn="l">
              <a:lnSpc>
                <a:spcPct val="94000"/>
              </a:lnSpc>
              <a:spcAft>
                <a:spcPts val="1409"/>
              </a:spcAft>
              <a:buFont typeface="Arial"/>
              <a:buChar char="•"/>
            </a:pPr>
            <a:r>
              <a:rPr sz="1300" b="1" i="0">
                <a:solidFill>
                  <a:srgbClr val="12325C"/>
                </a:solidFill>
                <a:latin typeface="Arial"/>
              </a:rPr>
              <a:t>Digital vault — </a:t>
            </a:r>
            <a:r>
              <a:rPr sz="1300" b="0" i="0">
                <a:solidFill>
                  <a:srgbClr val="161C24"/>
                </a:solidFill>
                <a:latin typeface="Arial"/>
              </a:rPr>
              <a:t>upload a document once, reuse it forever</a:t>
            </a:r>
          </a:p>
          <a:p>
            <a:pPr marL="146304" indent="-146304" algn="l">
              <a:lnSpc>
                <a:spcPct val="94000"/>
              </a:lnSpc>
              <a:spcAft>
                <a:spcPts val="1409"/>
              </a:spcAft>
              <a:buFont typeface="Arial"/>
              <a:buChar char="•"/>
            </a:pPr>
            <a:r>
              <a:rPr sz="1300" b="1" i="0">
                <a:solidFill>
                  <a:srgbClr val="12325C"/>
                </a:solidFill>
                <a:latin typeface="Arial"/>
              </a:rPr>
              <a:t>Browser OCR — </a:t>
            </a:r>
            <a:r>
              <a:rPr sz="1300" b="0" i="0">
                <a:solidFill>
                  <a:srgbClr val="161C24"/>
                </a:solidFill>
                <a:latin typeface="Arial"/>
              </a:rPr>
              <a:t>the phone reads it, AI then verifies it</a:t>
            </a:r>
          </a:p>
          <a:p>
            <a:pPr marL="146304" indent="-146304" algn="l">
              <a:lnSpc>
                <a:spcPct val="94000"/>
              </a:lnSpc>
              <a:spcAft>
                <a:spcPts val="1409"/>
              </a:spcAft>
              <a:buFont typeface="Arial"/>
              <a:buChar char="•"/>
            </a:pPr>
            <a:r>
              <a:rPr sz="1300" b="1" i="0">
                <a:solidFill>
                  <a:srgbClr val="12325C"/>
                </a:solidFill>
                <a:latin typeface="Arial"/>
              </a:rPr>
              <a:t>Auto-fill + Smart Kit — </a:t>
            </a:r>
            <a:r>
              <a:rPr sz="1300" b="0" i="0">
                <a:solidFill>
                  <a:srgbClr val="161C24"/>
                </a:solidFill>
                <a:latin typeface="Arial"/>
              </a:rPr>
              <a:t>one indexed, submission-ready PDF</a:t>
            </a:r>
          </a:p>
          <a:p>
            <a:pPr marL="146304" indent="-146304" algn="l">
              <a:lnSpc>
                <a:spcPct val="94000"/>
              </a:lnSpc>
              <a:buFont typeface="Arial"/>
              <a:buChar char="•"/>
            </a:pPr>
            <a:r>
              <a:rPr sz="1300" b="1" i="0">
                <a:solidFill>
                  <a:srgbClr val="12325C"/>
                </a:solidFill>
                <a:latin typeface="Arial"/>
              </a:rPr>
              <a:t>Live tracking — </a:t>
            </a:r>
            <a:r>
              <a:rPr sz="1300" b="0" i="0">
                <a:solidFill>
                  <a:srgbClr val="161C24"/>
                </a:solidFill>
                <a:latin typeface="Arial"/>
              </a:rPr>
              <a:t>status for the citizen, portal for the admin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4265157" y="2377440"/>
            <a:ext cx="3661653" cy="3675887"/>
          </a:xfrm>
          <a:prstGeom prst="roundRect">
            <a:avLst>
              <a:gd name="adj" fmla="val 3500"/>
            </a:avLst>
          </a:prstGeom>
          <a:solidFill>
            <a:srgbClr val="FBF4EA"/>
          </a:solidFill>
          <a:ln w="9525">
            <a:solidFill>
              <a:srgbClr val="EED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2" name="Oval 15371"/>
          <p:cNvSpPr/>
          <p:nvPr/>
        </p:nvSpPr>
        <p:spPr>
          <a:xfrm>
            <a:off x="4502901" y="2596896"/>
            <a:ext cx="384048" cy="384048"/>
          </a:xfrm>
          <a:prstGeom prst="ellipse">
            <a:avLst/>
          </a:prstGeom>
          <a:solidFill>
            <a:srgbClr val="C25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73" name="Picture 15372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8913" y="2692908"/>
            <a:ext cx="192024" cy="192024"/>
          </a:xfrm>
          <a:prstGeom prst="rect">
            <a:avLst/>
          </a:prstGeom>
        </p:spPr>
      </p:pic>
      <p:sp>
        <p:nvSpPr>
          <p:cNvPr id="15374" name="TextBox 15373"/>
          <p:cNvSpPr txBox="1"/>
          <p:nvPr/>
        </p:nvSpPr>
        <p:spPr>
          <a:xfrm>
            <a:off x="5014965" y="2615184"/>
            <a:ext cx="2674101" cy="471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300" b="1" i="0">
                <a:solidFill>
                  <a:srgbClr val="C2530C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4502901" y="3236976"/>
            <a:ext cx="3186165" cy="2578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304" indent="-146304" algn="l">
              <a:lnSpc>
                <a:spcPct val="94000"/>
              </a:lnSpc>
              <a:spcAft>
                <a:spcPts val="1409"/>
              </a:spcAft>
              <a:buFont typeface="Arial"/>
              <a:buChar char="•"/>
            </a:pPr>
            <a:r>
              <a:rPr sz="1300" b="1" i="0">
                <a:solidFill>
                  <a:srgbClr val="C2530C"/>
                </a:solidFill>
                <a:latin typeface="Arial"/>
              </a:rPr>
              <a:t>Discovery gap — </a:t>
            </a:r>
            <a:r>
              <a:rPr sz="1300" b="0" i="0">
                <a:solidFill>
                  <a:srgbClr val="161C24"/>
                </a:solidFill>
                <a:latin typeface="Arial"/>
              </a:rPr>
              <a:t>matching is proactive, no searching needed</a:t>
            </a:r>
          </a:p>
          <a:p>
            <a:pPr marL="146304" indent="-146304" algn="l">
              <a:lnSpc>
                <a:spcPct val="94000"/>
              </a:lnSpc>
              <a:spcAft>
                <a:spcPts val="1409"/>
              </a:spcAft>
              <a:buFont typeface="Arial"/>
              <a:buChar char="•"/>
            </a:pPr>
            <a:r>
              <a:rPr sz="1300" b="1" i="0">
                <a:solidFill>
                  <a:srgbClr val="C2530C"/>
                </a:solidFill>
                <a:latin typeface="Arial"/>
              </a:rPr>
              <a:t>“Am I eligible?” — </a:t>
            </a:r>
            <a:r>
              <a:rPr sz="1300" b="0" i="0">
                <a:solidFill>
                  <a:srgbClr val="161C24"/>
                </a:solidFill>
                <a:latin typeface="Arial"/>
              </a:rPr>
              <a:t>criteria met and missing, not a yes/no</a:t>
            </a:r>
          </a:p>
          <a:p>
            <a:pPr marL="146304" indent="-146304" algn="l">
              <a:lnSpc>
                <a:spcPct val="94000"/>
              </a:lnSpc>
              <a:spcAft>
                <a:spcPts val="1409"/>
              </a:spcAft>
              <a:buFont typeface="Arial"/>
              <a:buChar char="•"/>
            </a:pPr>
            <a:r>
              <a:rPr sz="1300" b="1" i="0">
                <a:solidFill>
                  <a:srgbClr val="C2530C"/>
                </a:solidFill>
                <a:latin typeface="Arial"/>
              </a:rPr>
              <a:t>Rejections — </a:t>
            </a:r>
            <a:r>
              <a:rPr sz="1300" b="0" i="0">
                <a:solidFill>
                  <a:srgbClr val="161C24"/>
                </a:solidFill>
                <a:latin typeface="Arial"/>
              </a:rPr>
              <a:t>readiness checked before anything is filed</a:t>
            </a:r>
          </a:p>
          <a:p>
            <a:pPr marL="146304" indent="-146304" algn="l">
              <a:lnSpc>
                <a:spcPct val="94000"/>
              </a:lnSpc>
              <a:spcAft>
                <a:spcPts val="1409"/>
              </a:spcAft>
              <a:buFont typeface="Arial"/>
              <a:buChar char="•"/>
            </a:pPr>
            <a:r>
              <a:rPr sz="1300" b="1" i="0">
                <a:solidFill>
                  <a:srgbClr val="C2530C"/>
                </a:solidFill>
                <a:latin typeface="Arial"/>
              </a:rPr>
              <a:t>Life events — </a:t>
            </a:r>
            <a:r>
              <a:rPr sz="1300" b="0" i="0">
                <a:solidFill>
                  <a:srgbClr val="161C24"/>
                </a:solidFill>
                <a:latin typeface="Arial"/>
              </a:rPr>
              <a:t>marriage, a child or job loss unlock schemes</a:t>
            </a:r>
          </a:p>
          <a:p>
            <a:pPr marL="146304" indent="-146304" algn="l">
              <a:lnSpc>
                <a:spcPct val="94000"/>
              </a:lnSpc>
              <a:buFont typeface="Arial"/>
              <a:buChar char="•"/>
            </a:pPr>
            <a:r>
              <a:rPr sz="1300" b="1" i="0">
                <a:solidFill>
                  <a:srgbClr val="C2530C"/>
                </a:solidFill>
                <a:latin typeface="Arial"/>
              </a:rPr>
              <a:t>Middlemen — </a:t>
            </a:r>
            <a:r>
              <a:rPr sz="1300" b="0" i="0">
                <a:solidFill>
                  <a:srgbClr val="161C24"/>
                </a:solidFill>
                <a:latin typeface="Arial"/>
              </a:rPr>
              <a:t>the core platform costs the citizen nothing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8146267" y="2377440"/>
            <a:ext cx="3661653" cy="3675887"/>
          </a:xfrm>
          <a:prstGeom prst="roundRect">
            <a:avLst>
              <a:gd name="adj" fmla="val 3500"/>
            </a:avLst>
          </a:prstGeom>
          <a:solidFill>
            <a:srgbClr val="EEF7F1"/>
          </a:solidFill>
          <a:ln w="9525">
            <a:solidFill>
              <a:srgbClr val="D4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7" name="Oval 15376"/>
          <p:cNvSpPr/>
          <p:nvPr/>
        </p:nvSpPr>
        <p:spPr>
          <a:xfrm>
            <a:off x="8384011" y="2596896"/>
            <a:ext cx="384048" cy="384048"/>
          </a:xfrm>
          <a:prstGeom prst="ellipse">
            <a:avLst/>
          </a:prstGeom>
          <a:solidFill>
            <a:srgbClr val="15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78" name="Picture 15377" descr="bo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0023" y="2692908"/>
            <a:ext cx="192024" cy="192024"/>
          </a:xfrm>
          <a:prstGeom prst="rect">
            <a:avLst/>
          </a:prstGeom>
        </p:spPr>
      </p:pic>
      <p:sp>
        <p:nvSpPr>
          <p:cNvPr id="15379" name="TextBox 15378"/>
          <p:cNvSpPr txBox="1"/>
          <p:nvPr/>
        </p:nvSpPr>
        <p:spPr>
          <a:xfrm>
            <a:off x="8896075" y="2615184"/>
            <a:ext cx="2674101" cy="471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300" b="1" i="0">
                <a:solidFill>
                  <a:srgbClr val="157A3D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8384011" y="3236976"/>
            <a:ext cx="3186165" cy="2578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304" indent="-146304" algn="l">
              <a:lnSpc>
                <a:spcPct val="94000"/>
              </a:lnSpc>
              <a:spcAft>
                <a:spcPts val="1409"/>
              </a:spcAft>
              <a:buFont typeface="Arial"/>
              <a:buChar char="•"/>
            </a:pPr>
            <a:r>
              <a:rPr sz="1300" b="1" i="0">
                <a:solidFill>
                  <a:srgbClr val="157A3D"/>
                </a:solidFill>
                <a:latin typeface="Arial"/>
              </a:rPr>
              <a:t>On-device OCR — </a:t>
            </a:r>
            <a:r>
              <a:rPr sz="1300" b="0" i="0">
                <a:solidFill>
                  <a:srgbClr val="161C24"/>
                </a:solidFill>
                <a:latin typeface="Arial"/>
              </a:rPr>
              <a:t>the document never has to leave the phone</a:t>
            </a:r>
          </a:p>
          <a:p>
            <a:pPr marL="146304" indent="-146304" algn="l">
              <a:lnSpc>
                <a:spcPct val="94000"/>
              </a:lnSpc>
              <a:spcAft>
                <a:spcPts val="1409"/>
              </a:spcAft>
              <a:buFont typeface="Arial"/>
              <a:buChar char="•"/>
            </a:pPr>
            <a:r>
              <a:rPr sz="1300" b="1" i="0">
                <a:solidFill>
                  <a:srgbClr val="157A3D"/>
                </a:solidFill>
                <a:latin typeface="Arial"/>
              </a:rPr>
              <a:t>AI gatekeeping — </a:t>
            </a:r>
            <a:r>
              <a:rPr sz="1300" b="0" i="0">
                <a:solidFill>
                  <a:srgbClr val="161C24"/>
                </a:solidFill>
                <a:latin typeface="Arial"/>
              </a:rPr>
              <a:t>confirms it is the right document first</a:t>
            </a:r>
          </a:p>
          <a:p>
            <a:pPr marL="146304" indent="-146304" algn="l">
              <a:lnSpc>
                <a:spcPct val="94000"/>
              </a:lnSpc>
              <a:spcAft>
                <a:spcPts val="1409"/>
              </a:spcAft>
              <a:buFont typeface="Arial"/>
              <a:buChar char="•"/>
            </a:pPr>
            <a:r>
              <a:rPr sz="1300" b="1" i="0">
                <a:solidFill>
                  <a:srgbClr val="157A3D"/>
                </a:solidFill>
                <a:latin typeface="Arial"/>
              </a:rPr>
              <a:t>Smart Document Kit — </a:t>
            </a:r>
            <a:r>
              <a:rPr sz="1300" b="0" i="0">
                <a:solidFill>
                  <a:srgbClr val="161C24"/>
                </a:solidFill>
                <a:latin typeface="Arial"/>
              </a:rPr>
              <a:t>cover page, index and ordered PDF</a:t>
            </a:r>
          </a:p>
          <a:p>
            <a:pPr marL="146304" indent="-146304" algn="l">
              <a:lnSpc>
                <a:spcPct val="94000"/>
              </a:lnSpc>
              <a:spcAft>
                <a:spcPts val="1409"/>
              </a:spcAft>
              <a:buFont typeface="Arial"/>
              <a:buChar char="•"/>
            </a:pPr>
            <a:r>
              <a:rPr sz="1300" b="1" i="0">
                <a:solidFill>
                  <a:srgbClr val="157A3D"/>
                </a:solidFill>
                <a:latin typeface="Arial"/>
              </a:rPr>
              <a:t>Explainable score — </a:t>
            </a:r>
            <a:r>
              <a:rPr sz="1300" b="0" i="0">
                <a:solidFill>
                  <a:srgbClr val="161C24"/>
                </a:solidFill>
                <a:latin typeface="Arial"/>
              </a:rPr>
              <a:t>criteria shown, never a black box</a:t>
            </a:r>
          </a:p>
          <a:p>
            <a:pPr marL="146304" indent="-146304" algn="l">
              <a:lnSpc>
                <a:spcPct val="94000"/>
              </a:lnSpc>
              <a:buFont typeface="Arial"/>
              <a:buChar char="•"/>
            </a:pPr>
            <a:r>
              <a:rPr sz="1300" b="1" i="0">
                <a:solidFill>
                  <a:srgbClr val="157A3D"/>
                </a:solidFill>
                <a:latin typeface="Arial"/>
              </a:rPr>
              <a:t>Readiness ranking — </a:t>
            </a:r>
            <a:r>
              <a:rPr sz="1300" b="0" i="0">
                <a:solidFill>
                  <a:srgbClr val="161C24"/>
                </a:solidFill>
                <a:latin typeface="Arial"/>
              </a:rPr>
              <a:t>exactly what to fix first, in order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-47625"/>
            <a:ext cx="80010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2325C"/>
                </a:solidFill>
                <a:latin typeface="Arial"/>
              </a:rPr>
              <a:t>Error 429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Oval 17409"/>
          <p:cNvSpPr/>
          <p:nvPr/>
        </p:nvSpPr>
        <p:spPr>
          <a:xfrm>
            <a:off x="384048" y="1106424"/>
            <a:ext cx="292608" cy="292608"/>
          </a:xfrm>
          <a:prstGeom prst="ellipse">
            <a:avLst/>
          </a:prstGeom>
          <a:solidFill>
            <a:srgbClr val="12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1" name="Picture 17410" descr="ge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79576"/>
            <a:ext cx="146304" cy="146304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786384" y="1152144"/>
            <a:ext cx="1102153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12325C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84048" y="1481328"/>
            <a:ext cx="2153101" cy="1463040"/>
          </a:xfrm>
          <a:prstGeom prst="roundRect">
            <a:avLst>
              <a:gd name="adj" fmla="val 3500"/>
            </a:avLst>
          </a:prstGeom>
          <a:solidFill>
            <a:srgbClr val="EFF5FC"/>
          </a:solidFill>
          <a:ln w="9525">
            <a:solidFill>
              <a:srgbClr val="D2E1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Oval 17413"/>
          <p:cNvSpPr/>
          <p:nvPr/>
        </p:nvSpPr>
        <p:spPr>
          <a:xfrm>
            <a:off x="530352" y="1627632"/>
            <a:ext cx="365760" cy="365760"/>
          </a:xfrm>
          <a:prstGeom prst="ellipse">
            <a:avLst/>
          </a:prstGeom>
          <a:solidFill>
            <a:srgbClr val="12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5" name="Picture 17414" descr="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1719072"/>
            <a:ext cx="182880" cy="182880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987552" y="1664208"/>
            <a:ext cx="140329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buNone/>
            </a:pPr>
            <a:r>
              <a:rPr sz="1150" b="1" i="0">
                <a:solidFill>
                  <a:srgbClr val="12325C"/>
                </a:solidFill>
                <a:latin typeface="Arial"/>
              </a:rPr>
              <a:t>Frontend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30352" y="2066544"/>
            <a:ext cx="1860493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100" b="0" i="0">
                <a:solidFill>
                  <a:srgbClr val="445062"/>
                </a:solidFill>
                <a:latin typeface="Arial"/>
              </a:rPr>
              <a:t>Next.js 14 App Router, React 18, TypeScript, Tailwind CSS, Radix UI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2701741" y="1481328"/>
            <a:ext cx="2153101" cy="1463040"/>
          </a:xfrm>
          <a:prstGeom prst="roundRect">
            <a:avLst>
              <a:gd name="adj" fmla="val 3500"/>
            </a:avLst>
          </a:prstGeom>
          <a:solidFill>
            <a:srgbClr val="EFF5FC"/>
          </a:solidFill>
          <a:ln w="9525">
            <a:solidFill>
              <a:srgbClr val="D2E1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Oval 17418"/>
          <p:cNvSpPr/>
          <p:nvPr/>
        </p:nvSpPr>
        <p:spPr>
          <a:xfrm>
            <a:off x="2848045" y="1627632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0" name="Picture 17419" descr="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9485" y="1719072"/>
            <a:ext cx="182880" cy="182880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3305245" y="1664208"/>
            <a:ext cx="140329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buNone/>
            </a:pPr>
            <a:r>
              <a:rPr sz="1150" b="1" i="0">
                <a:solidFill>
                  <a:srgbClr val="0070C0"/>
                </a:solidFill>
                <a:latin typeface="Arial"/>
              </a:rPr>
              <a:t>Backend &amp; Data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2848045" y="2066544"/>
            <a:ext cx="1860493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100" b="0" i="0">
                <a:solidFill>
                  <a:srgbClr val="445062"/>
                </a:solidFill>
                <a:latin typeface="Arial"/>
              </a:rPr>
              <a:t>Supabase — PostgreSQL, Auth, Storage, Realtime; Row-Level Security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5019434" y="1481328"/>
            <a:ext cx="2153101" cy="1463040"/>
          </a:xfrm>
          <a:prstGeom prst="roundRect">
            <a:avLst>
              <a:gd name="adj" fmla="val 3500"/>
            </a:avLst>
          </a:prstGeom>
          <a:solidFill>
            <a:srgbClr val="EFF5FC"/>
          </a:solidFill>
          <a:ln w="9525">
            <a:solidFill>
              <a:srgbClr val="D2E1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Oval 17423"/>
          <p:cNvSpPr/>
          <p:nvPr/>
        </p:nvSpPr>
        <p:spPr>
          <a:xfrm>
            <a:off x="5165738" y="1627632"/>
            <a:ext cx="365760" cy="36576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5" name="Picture 17424" descr="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178" y="1719072"/>
            <a:ext cx="182880" cy="182880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5622938" y="1664208"/>
            <a:ext cx="140329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buNone/>
            </a:pPr>
            <a:r>
              <a:rPr sz="1150" b="1" i="0">
                <a:solidFill>
                  <a:srgbClr val="0E7490"/>
                </a:solidFill>
                <a:latin typeface="Arial"/>
              </a:rPr>
              <a:t>AI Layer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165738" y="2066544"/>
            <a:ext cx="1860493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100" b="0" i="0">
                <a:solidFill>
                  <a:srgbClr val="445062"/>
                </a:solidFill>
                <a:latin typeface="Arial"/>
              </a:rPr>
              <a:t>Groq LLaMA-3.3-70B — document classification, extraction, reasoning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7337127" y="1481328"/>
            <a:ext cx="2153101" cy="1463040"/>
          </a:xfrm>
          <a:prstGeom prst="roundRect">
            <a:avLst>
              <a:gd name="adj" fmla="val 3500"/>
            </a:avLst>
          </a:prstGeom>
          <a:solidFill>
            <a:srgbClr val="EFF5FC"/>
          </a:solidFill>
          <a:ln w="9525">
            <a:solidFill>
              <a:srgbClr val="D2E1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Oval 17428"/>
          <p:cNvSpPr/>
          <p:nvPr/>
        </p:nvSpPr>
        <p:spPr>
          <a:xfrm>
            <a:off x="7483431" y="1627632"/>
            <a:ext cx="365760" cy="365760"/>
          </a:xfrm>
          <a:prstGeom prst="ellipse">
            <a:avLst/>
          </a:prstGeom>
          <a:solidFill>
            <a:srgbClr val="15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0" name="Picture 17429" descr="ey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4871" y="1719072"/>
            <a:ext cx="182880" cy="182880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7940631" y="1664208"/>
            <a:ext cx="140329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buNone/>
            </a:pPr>
            <a:r>
              <a:rPr sz="1150" b="1" i="0">
                <a:solidFill>
                  <a:srgbClr val="157A3D"/>
                </a:solidFill>
                <a:latin typeface="Arial"/>
              </a:rPr>
              <a:t>OCR &amp; Documents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7483431" y="2066544"/>
            <a:ext cx="1860493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100" b="0" i="0">
                <a:solidFill>
                  <a:srgbClr val="445062"/>
                </a:solidFill>
                <a:latin typeface="Arial"/>
              </a:rPr>
              <a:t>Tesseract.js WASM OCR in Hindi and English; pdf-lib kit builder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9654820" y="1481328"/>
            <a:ext cx="2153101" cy="1463040"/>
          </a:xfrm>
          <a:prstGeom prst="roundRect">
            <a:avLst>
              <a:gd name="adj" fmla="val 3500"/>
            </a:avLst>
          </a:prstGeom>
          <a:solidFill>
            <a:srgbClr val="EFF5FC"/>
          </a:solidFill>
          <a:ln w="9525">
            <a:solidFill>
              <a:srgbClr val="D2E1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Oval 17433"/>
          <p:cNvSpPr/>
          <p:nvPr/>
        </p:nvSpPr>
        <p:spPr>
          <a:xfrm>
            <a:off x="9801124" y="1627632"/>
            <a:ext cx="365760" cy="365760"/>
          </a:xfrm>
          <a:prstGeom prst="ellipse">
            <a:avLst/>
          </a:prstGeom>
          <a:solidFill>
            <a:srgbClr val="C25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5" name="Picture 17434" descr="clou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92564" y="1719072"/>
            <a:ext cx="182880" cy="182880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10258324" y="1664208"/>
            <a:ext cx="140329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buNone/>
            </a:pPr>
            <a:r>
              <a:rPr sz="1150" b="1" i="0">
                <a:solidFill>
                  <a:srgbClr val="C2530C"/>
                </a:solidFill>
                <a:latin typeface="Arial"/>
              </a:rPr>
              <a:t>Platform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9801124" y="2066544"/>
            <a:ext cx="1860493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100" b="0" i="0">
                <a:solidFill>
                  <a:srgbClr val="445062"/>
                </a:solidFill>
                <a:latin typeface="Arial"/>
              </a:rPr>
              <a:t>Vercel, Turborepo, Razorpay, SMS and e-mail, AES-256-GCM encryption</a:t>
            </a:r>
          </a:p>
        </p:txBody>
      </p:sp>
      <p:sp>
        <p:nvSpPr>
          <p:cNvPr id="17438" name="Oval 17437"/>
          <p:cNvSpPr/>
          <p:nvPr/>
        </p:nvSpPr>
        <p:spPr>
          <a:xfrm>
            <a:off x="384048" y="3081528"/>
            <a:ext cx="292608" cy="292608"/>
          </a:xfrm>
          <a:prstGeom prst="ellipse">
            <a:avLst/>
          </a:prstGeom>
          <a:solidFill>
            <a:srgbClr val="12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9" name="Picture 17438" descr="rou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154680"/>
            <a:ext cx="146304" cy="146304"/>
          </a:xfrm>
          <a:prstGeom prst="rect">
            <a:avLst/>
          </a:prstGeom>
        </p:spPr>
      </p:pic>
      <p:sp>
        <p:nvSpPr>
          <p:cNvPr id="17440" name="TextBox 17439"/>
          <p:cNvSpPr txBox="1"/>
          <p:nvPr/>
        </p:nvSpPr>
        <p:spPr>
          <a:xfrm>
            <a:off x="786384" y="3127248"/>
            <a:ext cx="1102153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12325C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41" name="Chevron 17440"/>
          <p:cNvSpPr/>
          <p:nvPr/>
        </p:nvSpPr>
        <p:spPr>
          <a:xfrm>
            <a:off x="384048" y="3493008"/>
            <a:ext cx="2025898" cy="1426464"/>
          </a:xfrm>
          <a:prstGeom prst="chevron">
            <a:avLst>
              <a:gd name="adj" fmla="val 18000"/>
            </a:avLst>
          </a:prstGeom>
          <a:solidFill>
            <a:srgbClr val="12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42" name="Picture 17441" descr="profi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32989" y="3639312"/>
            <a:ext cx="292608" cy="292608"/>
          </a:xfrm>
          <a:prstGeom prst="rect">
            <a:avLst/>
          </a:prstGeom>
        </p:spPr>
      </p:pic>
      <p:sp>
        <p:nvSpPr>
          <p:cNvPr id="17443" name="TextBox 17442"/>
          <p:cNvSpPr txBox="1"/>
          <p:nvPr/>
        </p:nvSpPr>
        <p:spPr>
          <a:xfrm>
            <a:off x="749808" y="4005072"/>
            <a:ext cx="14589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4000"/>
              </a:lnSpc>
              <a:buNone/>
            </a:pPr>
            <a:r>
              <a:rPr sz="1250" b="1" i="0">
                <a:solidFill>
                  <a:srgbClr val="FFFFFF"/>
                </a:solidFill>
                <a:latin typeface="Arial"/>
              </a:rPr>
              <a:t>Profile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749808" y="4297680"/>
            <a:ext cx="145897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4000"/>
              </a:lnSpc>
              <a:buNone/>
            </a:pPr>
            <a:r>
              <a:rPr sz="950" b="0" i="0">
                <a:solidFill>
                  <a:srgbClr val="D5E3F7"/>
                </a:solidFill>
                <a:latin typeface="Arial"/>
              </a:rPr>
              <a:t>One-time profile, consent captured</a:t>
            </a:r>
          </a:p>
        </p:txBody>
      </p:sp>
      <p:sp>
        <p:nvSpPr>
          <p:cNvPr id="17445" name="Chevron 17444"/>
          <p:cNvSpPr/>
          <p:nvPr/>
        </p:nvSpPr>
        <p:spPr>
          <a:xfrm>
            <a:off x="2263642" y="3493008"/>
            <a:ext cx="2025898" cy="1426464"/>
          </a:xfrm>
          <a:prstGeom prst="chevron">
            <a:avLst>
              <a:gd name="adj" fmla="val 1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46" name="Picture 17445" descr="match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12584" y="3639312"/>
            <a:ext cx="292608" cy="292608"/>
          </a:xfrm>
          <a:prstGeom prst="rect">
            <a:avLst/>
          </a:prstGeom>
        </p:spPr>
      </p:pic>
      <p:sp>
        <p:nvSpPr>
          <p:cNvPr id="17447" name="TextBox 17446"/>
          <p:cNvSpPr txBox="1"/>
          <p:nvPr/>
        </p:nvSpPr>
        <p:spPr>
          <a:xfrm>
            <a:off x="2629402" y="4005072"/>
            <a:ext cx="14589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4000"/>
              </a:lnSpc>
              <a:buNone/>
            </a:pPr>
            <a:r>
              <a:rPr sz="1250" b="1" i="0">
                <a:solidFill>
                  <a:srgbClr val="FFFFFF"/>
                </a:solidFill>
                <a:latin typeface="Arial"/>
              </a:rPr>
              <a:t>Match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2629402" y="4297680"/>
            <a:ext cx="145897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4000"/>
              </a:lnSpc>
              <a:buNone/>
            </a:pPr>
            <a:r>
              <a:rPr sz="950" b="0" i="0">
                <a:solidFill>
                  <a:srgbClr val="D5E3F7"/>
                </a:solidFill>
                <a:latin typeface="Arial"/>
              </a:rPr>
              <a:t>Every scheme scored, with reasons</a:t>
            </a:r>
          </a:p>
        </p:txBody>
      </p:sp>
      <p:sp>
        <p:nvSpPr>
          <p:cNvPr id="17449" name="Chevron 17448"/>
          <p:cNvSpPr/>
          <p:nvPr/>
        </p:nvSpPr>
        <p:spPr>
          <a:xfrm>
            <a:off x="4143237" y="3493008"/>
            <a:ext cx="2025898" cy="1426464"/>
          </a:xfrm>
          <a:prstGeom prst="chevron">
            <a:avLst>
              <a:gd name="adj" fmla="val 18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50" name="Picture 17449" descr="uploa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92179" y="3639312"/>
            <a:ext cx="292608" cy="292608"/>
          </a:xfrm>
          <a:prstGeom prst="rect">
            <a:avLst/>
          </a:prstGeom>
        </p:spPr>
      </p:pic>
      <p:sp>
        <p:nvSpPr>
          <p:cNvPr id="17451" name="TextBox 17450"/>
          <p:cNvSpPr txBox="1"/>
          <p:nvPr/>
        </p:nvSpPr>
        <p:spPr>
          <a:xfrm>
            <a:off x="4508997" y="4005072"/>
            <a:ext cx="14589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4000"/>
              </a:lnSpc>
              <a:buNone/>
            </a:pPr>
            <a:r>
              <a:rPr sz="1250" b="1" i="0">
                <a:solidFill>
                  <a:srgbClr val="FFFFFF"/>
                </a:solidFill>
                <a:latin typeface="Arial"/>
              </a:rPr>
              <a:t>Upload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4508997" y="4297680"/>
            <a:ext cx="145897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4000"/>
              </a:lnSpc>
              <a:buNone/>
            </a:pPr>
            <a:r>
              <a:rPr sz="950" b="0" i="0">
                <a:solidFill>
                  <a:srgbClr val="D5E3F7"/>
                </a:solidFill>
                <a:latin typeface="Arial"/>
              </a:rPr>
              <a:t>Browser OCR reads the document</a:t>
            </a:r>
          </a:p>
        </p:txBody>
      </p:sp>
      <p:sp>
        <p:nvSpPr>
          <p:cNvPr id="17453" name="Chevron 17452"/>
          <p:cNvSpPr/>
          <p:nvPr/>
        </p:nvSpPr>
        <p:spPr>
          <a:xfrm>
            <a:off x="6022832" y="3493008"/>
            <a:ext cx="2025898" cy="1426464"/>
          </a:xfrm>
          <a:prstGeom prst="chevron">
            <a:avLst>
              <a:gd name="adj" fmla="val 18000"/>
            </a:avLst>
          </a:prstGeom>
          <a:solidFill>
            <a:srgbClr val="15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54" name="Picture 17453" descr="verif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71774" y="3639312"/>
            <a:ext cx="292608" cy="292608"/>
          </a:xfrm>
          <a:prstGeom prst="rect">
            <a:avLst/>
          </a:prstGeom>
        </p:spPr>
      </p:pic>
      <p:sp>
        <p:nvSpPr>
          <p:cNvPr id="17455" name="TextBox 17454"/>
          <p:cNvSpPr txBox="1"/>
          <p:nvPr/>
        </p:nvSpPr>
        <p:spPr>
          <a:xfrm>
            <a:off x="6388592" y="4005072"/>
            <a:ext cx="14589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4000"/>
              </a:lnSpc>
              <a:buNone/>
            </a:pPr>
            <a:r>
              <a:rPr sz="1250" b="1" i="0">
                <a:solidFill>
                  <a:srgbClr val="FFFFFF"/>
                </a:solidFill>
                <a:latin typeface="Arial"/>
              </a:rPr>
              <a:t>Verify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6388592" y="4297680"/>
            <a:ext cx="145897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4000"/>
              </a:lnSpc>
              <a:buNone/>
            </a:pPr>
            <a:r>
              <a:rPr sz="950" b="0" i="0">
                <a:solidFill>
                  <a:srgbClr val="D5E3F7"/>
                </a:solidFill>
                <a:latin typeface="Arial"/>
              </a:rPr>
              <a:t>AI confirms type, extracts fields</a:t>
            </a:r>
          </a:p>
        </p:txBody>
      </p:sp>
      <p:sp>
        <p:nvSpPr>
          <p:cNvPr id="17457" name="Chevron 17456"/>
          <p:cNvSpPr/>
          <p:nvPr/>
        </p:nvSpPr>
        <p:spPr>
          <a:xfrm>
            <a:off x="7902427" y="3493008"/>
            <a:ext cx="2025898" cy="1426464"/>
          </a:xfrm>
          <a:prstGeom prst="chevron">
            <a:avLst>
              <a:gd name="adj" fmla="val 18000"/>
            </a:avLst>
          </a:prstGeom>
          <a:solidFill>
            <a:srgbClr val="C25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58" name="Picture 17457" descr="apply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51369" y="3639312"/>
            <a:ext cx="292608" cy="292608"/>
          </a:xfrm>
          <a:prstGeom prst="rect">
            <a:avLst/>
          </a:prstGeom>
        </p:spPr>
      </p:pic>
      <p:sp>
        <p:nvSpPr>
          <p:cNvPr id="17459" name="TextBox 17458"/>
          <p:cNvSpPr txBox="1"/>
          <p:nvPr/>
        </p:nvSpPr>
        <p:spPr>
          <a:xfrm>
            <a:off x="8268187" y="4005072"/>
            <a:ext cx="14589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4000"/>
              </a:lnSpc>
              <a:buNone/>
            </a:pPr>
            <a:r>
              <a:rPr sz="1250" b="1" i="0">
                <a:solidFill>
                  <a:srgbClr val="FFFFFF"/>
                </a:solidFill>
                <a:latin typeface="Arial"/>
              </a:rPr>
              <a:t>Apply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8268187" y="4297680"/>
            <a:ext cx="145897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4000"/>
              </a:lnSpc>
              <a:buNone/>
            </a:pPr>
            <a:r>
              <a:rPr sz="950" b="0" i="0">
                <a:solidFill>
                  <a:srgbClr val="D5E3F7"/>
                </a:solidFill>
                <a:latin typeface="Arial"/>
              </a:rPr>
              <a:t>Auto-filled form + Smart Kit PDF</a:t>
            </a:r>
          </a:p>
        </p:txBody>
      </p:sp>
      <p:sp>
        <p:nvSpPr>
          <p:cNvPr id="17461" name="Chevron 17460"/>
          <p:cNvSpPr/>
          <p:nvPr/>
        </p:nvSpPr>
        <p:spPr>
          <a:xfrm>
            <a:off x="9782022" y="3493008"/>
            <a:ext cx="2025898" cy="1426464"/>
          </a:xfrm>
          <a:prstGeom prst="chevron">
            <a:avLst>
              <a:gd name="adj" fmla="val 18000"/>
            </a:avLst>
          </a:prstGeom>
          <a:solidFill>
            <a:srgbClr val="2B5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62" name="Picture 17461" descr="tra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30964" y="3639312"/>
            <a:ext cx="292608" cy="292608"/>
          </a:xfrm>
          <a:prstGeom prst="rect">
            <a:avLst/>
          </a:prstGeom>
        </p:spPr>
      </p:pic>
      <p:sp>
        <p:nvSpPr>
          <p:cNvPr id="17463" name="TextBox 17462"/>
          <p:cNvSpPr txBox="1"/>
          <p:nvPr/>
        </p:nvSpPr>
        <p:spPr>
          <a:xfrm>
            <a:off x="10147782" y="4005072"/>
            <a:ext cx="14589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4000"/>
              </a:lnSpc>
              <a:buNone/>
            </a:pPr>
            <a:r>
              <a:rPr sz="1250" b="1" i="0">
                <a:solidFill>
                  <a:srgbClr val="FFFFFF"/>
                </a:solidFill>
                <a:latin typeface="Arial"/>
              </a:rPr>
              <a:t>Track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10147782" y="4297680"/>
            <a:ext cx="145897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4000"/>
              </a:lnSpc>
              <a:buNone/>
            </a:pPr>
            <a:r>
              <a:rPr sz="950" b="0" i="0">
                <a:solidFill>
                  <a:srgbClr val="D5E3F7"/>
                </a:solidFill>
                <a:latin typeface="Arial"/>
              </a:rPr>
              <a:t>Status updates and admin review</a:t>
            </a:r>
          </a:p>
        </p:txBody>
      </p:sp>
      <p:sp>
        <p:nvSpPr>
          <p:cNvPr id="17465" name="Rounded Rectangle 17464"/>
          <p:cNvSpPr/>
          <p:nvPr/>
        </p:nvSpPr>
        <p:spPr>
          <a:xfrm>
            <a:off x="384048" y="5175504"/>
            <a:ext cx="11423873" cy="786384"/>
          </a:xfrm>
          <a:prstGeom prst="roundRect">
            <a:avLst>
              <a:gd name="adj" fmla="val 3500"/>
            </a:avLst>
          </a:prstGeom>
          <a:solidFill>
            <a:srgbClr val="FBF4EA"/>
          </a:solidFill>
          <a:ln w="9525">
            <a:solidFill>
              <a:srgbClr val="EED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6" name="Oval 17465"/>
          <p:cNvSpPr/>
          <p:nvPr/>
        </p:nvSpPr>
        <p:spPr>
          <a:xfrm>
            <a:off x="603503" y="5358384"/>
            <a:ext cx="420624" cy="420624"/>
          </a:xfrm>
          <a:prstGeom prst="ellipse">
            <a:avLst/>
          </a:prstGeom>
          <a:solidFill>
            <a:srgbClr val="C25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67" name="Picture 17466" descr="rocke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8659" y="5463540"/>
            <a:ext cx="210312" cy="210312"/>
          </a:xfrm>
          <a:prstGeom prst="rect">
            <a:avLst/>
          </a:prstGeom>
        </p:spPr>
      </p:pic>
      <p:sp>
        <p:nvSpPr>
          <p:cNvPr id="17468" name="TextBox 17467"/>
          <p:cNvSpPr txBox="1"/>
          <p:nvPr/>
        </p:nvSpPr>
        <p:spPr>
          <a:xfrm>
            <a:off x="1170432" y="5376672"/>
            <a:ext cx="1041803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buNone/>
            </a:pPr>
            <a:r>
              <a:rPr sz="1250" b="1" i="0">
                <a:solidFill>
                  <a:srgbClr val="C2530C"/>
                </a:solidFill>
                <a:latin typeface="Arial"/>
              </a:rPr>
              <a:t>Working prototype already runs end-to-end — </a:t>
            </a:r>
            <a:r>
              <a:rPr sz="1250" b="0" i="0">
                <a:solidFill>
                  <a:srgbClr val="161C24"/>
                </a:solidFill>
                <a:latin typeface="Arial"/>
              </a:rPr>
              <a:t>36 API routes, 60 React components, ~21,000 lines of TypeScript; browser OCR, AI verification and PDF kit generation are functional.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-47625"/>
            <a:ext cx="80010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2325C"/>
                </a:solidFill>
                <a:latin typeface="Arial"/>
              </a:rPr>
              <a:t>Error 429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84048" y="1115568"/>
            <a:ext cx="3529584" cy="4828032"/>
          </a:xfrm>
          <a:prstGeom prst="roundRect">
            <a:avLst>
              <a:gd name="adj" fmla="val 4500"/>
            </a:avLst>
          </a:prstGeom>
          <a:solidFill>
            <a:srgbClr val="12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Oval 17410"/>
          <p:cNvSpPr/>
          <p:nvPr/>
        </p:nvSpPr>
        <p:spPr>
          <a:xfrm>
            <a:off x="621792" y="1335024"/>
            <a:ext cx="384048" cy="384048"/>
          </a:xfrm>
          <a:prstGeom prst="ellipse">
            <a:avLst/>
          </a:prstGeom>
          <a:solidFill>
            <a:srgbClr val="2B5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2" name="Picture 17411" descr="list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3" y="1431036"/>
            <a:ext cx="192024" cy="192024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1133856" y="1353312"/>
            <a:ext cx="277977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300" b="1" i="0" dirty="0">
                <a:solidFill>
                  <a:srgbClr val="FFFFFF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40080" y="2084832"/>
            <a:ext cx="3017520" cy="33852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304" indent="-146304" algn="l">
              <a:lnSpc>
                <a:spcPct val="94000"/>
              </a:lnSpc>
              <a:spcAft>
                <a:spcPts val="2183"/>
              </a:spcAft>
              <a:buFont typeface="Arial"/>
              <a:buChar char="•"/>
            </a:pPr>
            <a:r>
              <a:rPr sz="1300" b="1" i="0" dirty="0">
                <a:solidFill>
                  <a:srgbClr val="FFFFFF"/>
                </a:solidFill>
                <a:latin typeface="Arial"/>
              </a:rPr>
              <a:t>Built — </a:t>
            </a:r>
            <a:r>
              <a:rPr sz="1300" b="0" i="0" dirty="0">
                <a:solidFill>
                  <a:srgbClr val="D5E3F7"/>
                </a:solidFill>
                <a:latin typeface="Arial"/>
              </a:rPr>
              <a:t>the full journey already works end to end today</a:t>
            </a:r>
          </a:p>
          <a:p>
            <a:pPr marL="146304" indent="-146304">
              <a:lnSpc>
                <a:spcPct val="94000"/>
              </a:lnSpc>
              <a:spcAft>
                <a:spcPts val="2183"/>
              </a:spcAft>
              <a:buFont typeface="Arial"/>
              <a:buChar char="•"/>
            </a:pPr>
            <a:r>
              <a:rPr lang="en-IN" sz="1300" b="1" dirty="0">
                <a:solidFill>
                  <a:srgbClr val="FFFFFF"/>
                </a:solidFill>
                <a:latin typeface="Arial"/>
              </a:rPr>
              <a:t>Modular — </a:t>
            </a:r>
            <a:r>
              <a:rPr lang="en-IN" sz="1300" dirty="0">
                <a:solidFill>
                  <a:srgbClr val="FFFFFF"/>
                </a:solidFill>
                <a:latin typeface="Arial"/>
              </a:rPr>
              <a:t>scheme rules, documents and workflows can be updated independently</a:t>
            </a:r>
            <a:endParaRPr sz="1300" i="0" dirty="0">
              <a:solidFill>
                <a:srgbClr val="D5E3F7"/>
              </a:solidFill>
              <a:latin typeface="Arial"/>
            </a:endParaRPr>
          </a:p>
          <a:p>
            <a:pPr marL="146304" indent="-146304">
              <a:lnSpc>
                <a:spcPct val="94000"/>
              </a:lnSpc>
              <a:spcAft>
                <a:spcPts val="2183"/>
              </a:spcAft>
              <a:buFont typeface="Arial"/>
              <a:buChar char="•"/>
            </a:pPr>
            <a:r>
              <a:rPr lang="en-IN" sz="1300" b="1" dirty="0">
                <a:solidFill>
                  <a:srgbClr val="FFFFFF"/>
                </a:solidFill>
                <a:latin typeface="Arial"/>
              </a:rPr>
              <a:t>Explainable — </a:t>
            </a:r>
            <a:r>
              <a:rPr lang="en-IN" sz="1300" dirty="0">
                <a:solidFill>
                  <a:srgbClr val="FFFFFF"/>
                </a:solidFill>
                <a:latin typeface="Arial"/>
              </a:rPr>
              <a:t>every recommendation can show what matched and what is missing</a:t>
            </a:r>
            <a:endParaRPr sz="1300" i="0" dirty="0">
              <a:solidFill>
                <a:srgbClr val="D5E3F7"/>
              </a:solidFill>
              <a:latin typeface="Arial"/>
            </a:endParaRPr>
          </a:p>
          <a:p>
            <a:pPr marL="146304" indent="-146304" algn="l">
              <a:lnSpc>
                <a:spcPct val="94000"/>
              </a:lnSpc>
              <a:spcAft>
                <a:spcPts val="2183"/>
              </a:spcAft>
              <a:buFont typeface="Arial"/>
              <a:buChar char="•"/>
            </a:pPr>
            <a:r>
              <a:rPr sz="1300" b="1" i="0" dirty="0">
                <a:solidFill>
                  <a:srgbClr val="FFFFFF"/>
                </a:solidFill>
                <a:latin typeface="Arial"/>
              </a:rPr>
              <a:t>Unblocked — </a:t>
            </a:r>
            <a:r>
              <a:rPr sz="1300" b="0" i="0" dirty="0">
                <a:solidFill>
                  <a:srgbClr val="D5E3F7"/>
                </a:solidFill>
                <a:latin typeface="Arial"/>
              </a:rPr>
              <a:t>the MVP runs on published data, no API gate</a:t>
            </a:r>
          </a:p>
          <a:p>
            <a:pPr marL="146304" indent="-146304" algn="l">
              <a:lnSpc>
                <a:spcPct val="94000"/>
              </a:lnSpc>
              <a:buFont typeface="Arial"/>
              <a:buChar char="•"/>
            </a:pPr>
            <a:r>
              <a:rPr sz="1300" b="1" i="0" dirty="0">
                <a:solidFill>
                  <a:srgbClr val="FFFFFF"/>
                </a:solidFill>
                <a:latin typeface="Arial"/>
              </a:rPr>
              <a:t>Maintainable — </a:t>
            </a:r>
            <a:r>
              <a:rPr lang="en-IN" sz="1300" dirty="0">
                <a:solidFill>
                  <a:srgbClr val="D5E3F7"/>
                </a:solidFill>
                <a:latin typeface="Arial"/>
              </a:rPr>
              <a:t>multi</a:t>
            </a:r>
            <a:r>
              <a:rPr sz="1300" b="0" i="0" dirty="0">
                <a:solidFill>
                  <a:srgbClr val="D5E3F7"/>
                </a:solidFill>
                <a:latin typeface="Arial"/>
              </a:rPr>
              <a:t> language</a:t>
            </a:r>
            <a:r>
              <a:rPr lang="en-IN" sz="1300" b="0" i="0" dirty="0">
                <a:solidFill>
                  <a:srgbClr val="D5E3F7"/>
                </a:solidFill>
                <a:latin typeface="Arial"/>
              </a:rPr>
              <a:t>s</a:t>
            </a:r>
            <a:r>
              <a:rPr sz="1300" b="0" i="0" dirty="0">
                <a:solidFill>
                  <a:srgbClr val="D5E3F7"/>
                </a:solidFill>
                <a:latin typeface="Arial"/>
              </a:rPr>
              <a:t>, one framework, managed infra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4151376" y="1115568"/>
            <a:ext cx="292608" cy="292608"/>
          </a:xfrm>
          <a:prstGeom prst="ellipse">
            <a:avLst/>
          </a:prstGeom>
          <a:solidFill>
            <a:srgbClr val="A8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6" name="Picture 17415" descr="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1188720"/>
            <a:ext cx="146304" cy="146304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4535424" y="1133856"/>
            <a:ext cx="3233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A82C2C"/>
                </a:solidFill>
                <a:latin typeface="Arial"/>
              </a:rPr>
              <a:t>Potential challenges and risks</a:t>
            </a:r>
          </a:p>
        </p:txBody>
      </p:sp>
      <p:sp>
        <p:nvSpPr>
          <p:cNvPr id="17418" name="Oval 17417"/>
          <p:cNvSpPr/>
          <p:nvPr/>
        </p:nvSpPr>
        <p:spPr>
          <a:xfrm>
            <a:off x="8189960" y="1115568"/>
            <a:ext cx="292608" cy="292608"/>
          </a:xfrm>
          <a:prstGeom prst="ellipse">
            <a:avLst/>
          </a:prstGeom>
          <a:solidFill>
            <a:srgbClr val="15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9" name="Picture 17418" descr="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3112" y="1188720"/>
            <a:ext cx="146304" cy="146304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8574008" y="1133856"/>
            <a:ext cx="3233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157A3D"/>
                </a:solidFill>
                <a:latin typeface="Arial"/>
              </a:rPr>
              <a:t>Strategies for overcoming these challenges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151376" y="1536192"/>
            <a:ext cx="3617960" cy="753465"/>
          </a:xfrm>
          <a:prstGeom prst="roundRect">
            <a:avLst>
              <a:gd name="adj" fmla="val 3500"/>
            </a:avLst>
          </a:prstGeom>
          <a:solidFill>
            <a:srgbClr val="FBF4EA"/>
          </a:solidFill>
          <a:ln w="9525">
            <a:solidFill>
              <a:srgbClr val="EED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Rounded Rectangle 17421"/>
          <p:cNvSpPr/>
          <p:nvPr/>
        </p:nvSpPr>
        <p:spPr>
          <a:xfrm>
            <a:off x="8189960" y="1536192"/>
            <a:ext cx="3617960" cy="753465"/>
          </a:xfrm>
          <a:prstGeom prst="roundRect">
            <a:avLst>
              <a:gd name="adj" fmla="val 3500"/>
            </a:avLst>
          </a:prstGeom>
          <a:solidFill>
            <a:srgbClr val="EEF7F1"/>
          </a:solidFill>
          <a:ln w="9525">
            <a:solidFill>
              <a:srgbClr val="D4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4279392" y="1769668"/>
            <a:ext cx="3361928" cy="35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buNone/>
            </a:pPr>
            <a:r>
              <a:rPr sz="1000" b="0" i="0">
                <a:solidFill>
                  <a:srgbClr val="161C24"/>
                </a:solidFill>
                <a:latin typeface="Arial"/>
              </a:rPr>
              <a:t>Scheme rules change constantly across thousands of central and state schemes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317976" y="1769668"/>
            <a:ext cx="3361928" cy="35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buNone/>
            </a:pPr>
            <a:r>
              <a:rPr sz="1000" b="0" i="0">
                <a:solidFill>
                  <a:srgbClr val="161C24"/>
                </a:solidFill>
                <a:latin typeface="Arial"/>
              </a:rPr>
              <a:t>A curated index with versioning and citizen-reported corrections</a:t>
            </a:r>
          </a:p>
        </p:txBody>
      </p:sp>
      <p:sp>
        <p:nvSpPr>
          <p:cNvPr id="17425" name="Right Arrow 17424"/>
          <p:cNvSpPr/>
          <p:nvPr/>
        </p:nvSpPr>
        <p:spPr>
          <a:xfrm>
            <a:off x="7860776" y="1830628"/>
            <a:ext cx="237744" cy="164592"/>
          </a:xfrm>
          <a:prstGeom prst="rightArrow">
            <a:avLst>
              <a:gd name="adj1" fmla="val 3500"/>
              <a:gd name="adj2" fmla="val 50000"/>
            </a:avLst>
          </a:prstGeom>
          <a:solidFill>
            <a:srgbClr val="2B5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Rounded Rectangle 17425"/>
          <p:cNvSpPr/>
          <p:nvPr/>
        </p:nvSpPr>
        <p:spPr>
          <a:xfrm>
            <a:off x="4151376" y="2417673"/>
            <a:ext cx="3617960" cy="753465"/>
          </a:xfrm>
          <a:prstGeom prst="roundRect">
            <a:avLst>
              <a:gd name="adj" fmla="val 3500"/>
            </a:avLst>
          </a:prstGeom>
          <a:solidFill>
            <a:srgbClr val="FBF4EA"/>
          </a:solidFill>
          <a:ln w="9525">
            <a:solidFill>
              <a:srgbClr val="EED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Rounded Rectangle 17426"/>
          <p:cNvSpPr/>
          <p:nvPr/>
        </p:nvSpPr>
        <p:spPr>
          <a:xfrm>
            <a:off x="8189960" y="2417673"/>
            <a:ext cx="3617960" cy="753465"/>
          </a:xfrm>
          <a:prstGeom prst="roundRect">
            <a:avLst>
              <a:gd name="adj" fmla="val 3500"/>
            </a:avLst>
          </a:prstGeom>
          <a:solidFill>
            <a:srgbClr val="EEF7F1"/>
          </a:solidFill>
          <a:ln w="9525">
            <a:solidFill>
              <a:srgbClr val="D4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4279392" y="2651150"/>
            <a:ext cx="3361928" cy="35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buNone/>
            </a:pPr>
            <a:r>
              <a:rPr sz="1000" b="0" i="0">
                <a:solidFill>
                  <a:srgbClr val="161C24"/>
                </a:solidFill>
                <a:latin typeface="Arial"/>
              </a:rPr>
              <a:t>OCR struggles with faded, handwritten or regional-language documents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8317976" y="2651150"/>
            <a:ext cx="3361928" cy="35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buNone/>
            </a:pPr>
            <a:r>
              <a:rPr sz="1000" b="0" i="0">
                <a:solidFill>
                  <a:srgbClr val="161C24"/>
                </a:solidFill>
                <a:latin typeface="Arial"/>
              </a:rPr>
              <a:t>Two-layer OCR — Tesseract plus AI validation, manual entry as fallback</a:t>
            </a:r>
          </a:p>
        </p:txBody>
      </p:sp>
      <p:sp>
        <p:nvSpPr>
          <p:cNvPr id="17430" name="Right Arrow 17429"/>
          <p:cNvSpPr/>
          <p:nvPr/>
        </p:nvSpPr>
        <p:spPr>
          <a:xfrm>
            <a:off x="7860776" y="2712110"/>
            <a:ext cx="237744" cy="164592"/>
          </a:xfrm>
          <a:prstGeom prst="rightArrow">
            <a:avLst>
              <a:gd name="adj1" fmla="val 3500"/>
              <a:gd name="adj2" fmla="val 50000"/>
            </a:avLst>
          </a:prstGeom>
          <a:solidFill>
            <a:srgbClr val="2B5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Rounded Rectangle 17430"/>
          <p:cNvSpPr/>
          <p:nvPr/>
        </p:nvSpPr>
        <p:spPr>
          <a:xfrm>
            <a:off x="4151376" y="3299155"/>
            <a:ext cx="3617960" cy="753465"/>
          </a:xfrm>
          <a:prstGeom prst="roundRect">
            <a:avLst>
              <a:gd name="adj" fmla="val 3500"/>
            </a:avLst>
          </a:prstGeom>
          <a:solidFill>
            <a:srgbClr val="FBF4EA"/>
          </a:solidFill>
          <a:ln w="9525">
            <a:solidFill>
              <a:srgbClr val="EED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Rounded Rectangle 17431"/>
          <p:cNvSpPr/>
          <p:nvPr/>
        </p:nvSpPr>
        <p:spPr>
          <a:xfrm>
            <a:off x="8189960" y="3299155"/>
            <a:ext cx="3617960" cy="753465"/>
          </a:xfrm>
          <a:prstGeom prst="roundRect">
            <a:avLst>
              <a:gd name="adj" fmla="val 3500"/>
            </a:avLst>
          </a:prstGeom>
          <a:solidFill>
            <a:srgbClr val="EEF7F1"/>
          </a:solidFill>
          <a:ln w="9525">
            <a:solidFill>
              <a:srgbClr val="D4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4279392" y="3532632"/>
            <a:ext cx="3361928" cy="35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buNone/>
            </a:pPr>
            <a:r>
              <a:rPr sz="1000" b="0" i="0">
                <a:solidFill>
                  <a:srgbClr val="161C24"/>
                </a:solidFill>
                <a:latin typeface="Arial"/>
              </a:rPr>
              <a:t>Aadhaar-class documents carry a real privacy and legal duty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8317976" y="3532632"/>
            <a:ext cx="3361928" cy="35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buNone/>
            </a:pPr>
            <a:r>
              <a:rPr sz="1000" b="0" i="0">
                <a:solidFill>
                  <a:srgbClr val="161C24"/>
                </a:solidFill>
                <a:latin typeface="Arial"/>
              </a:rPr>
              <a:t>Encrypted fields, per-user access rules and short-lived document links</a:t>
            </a:r>
          </a:p>
        </p:txBody>
      </p:sp>
      <p:sp>
        <p:nvSpPr>
          <p:cNvPr id="17435" name="Right Arrow 17434"/>
          <p:cNvSpPr/>
          <p:nvPr/>
        </p:nvSpPr>
        <p:spPr>
          <a:xfrm>
            <a:off x="7860776" y="3593592"/>
            <a:ext cx="237744" cy="164592"/>
          </a:xfrm>
          <a:prstGeom prst="rightArrow">
            <a:avLst>
              <a:gd name="adj1" fmla="val 3500"/>
              <a:gd name="adj2" fmla="val 50000"/>
            </a:avLst>
          </a:prstGeom>
          <a:solidFill>
            <a:srgbClr val="2B5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6" name="Rounded Rectangle 17435"/>
          <p:cNvSpPr/>
          <p:nvPr/>
        </p:nvSpPr>
        <p:spPr>
          <a:xfrm>
            <a:off x="4151376" y="4180636"/>
            <a:ext cx="3617960" cy="753465"/>
          </a:xfrm>
          <a:prstGeom prst="roundRect">
            <a:avLst>
              <a:gd name="adj" fmla="val 3500"/>
            </a:avLst>
          </a:prstGeom>
          <a:solidFill>
            <a:srgbClr val="FBF4EA"/>
          </a:solidFill>
          <a:ln w="9525">
            <a:solidFill>
              <a:srgbClr val="EED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Rounded Rectangle 17436"/>
          <p:cNvSpPr/>
          <p:nvPr/>
        </p:nvSpPr>
        <p:spPr>
          <a:xfrm>
            <a:off x="8189960" y="4180636"/>
            <a:ext cx="3617960" cy="753465"/>
          </a:xfrm>
          <a:prstGeom prst="roundRect">
            <a:avLst>
              <a:gd name="adj" fmla="val 3500"/>
            </a:avLst>
          </a:prstGeom>
          <a:solidFill>
            <a:srgbClr val="EEF7F1"/>
          </a:solidFill>
          <a:ln w="9525">
            <a:solidFill>
              <a:srgbClr val="D4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4279392" y="4414113"/>
            <a:ext cx="3361928" cy="35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buNone/>
            </a:pPr>
            <a:r>
              <a:rPr sz="1000" b="0" i="0">
                <a:solidFill>
                  <a:srgbClr val="161C24"/>
                </a:solidFill>
                <a:latin typeface="Arial"/>
              </a:rPr>
              <a:t>Low digital literacy in exactly the households that need this most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8317976" y="4414113"/>
            <a:ext cx="3361928" cy="35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buNone/>
            </a:pPr>
            <a:r>
              <a:rPr sz="1000" b="0" i="0">
                <a:solidFill>
                  <a:srgbClr val="161C24"/>
                </a:solidFill>
                <a:latin typeface="Arial"/>
              </a:rPr>
              <a:t>Hindi and English interface, assisted mode for CSC and NGO operators</a:t>
            </a:r>
          </a:p>
        </p:txBody>
      </p:sp>
      <p:sp>
        <p:nvSpPr>
          <p:cNvPr id="17440" name="Right Arrow 17439"/>
          <p:cNvSpPr/>
          <p:nvPr/>
        </p:nvSpPr>
        <p:spPr>
          <a:xfrm>
            <a:off x="7860776" y="4475073"/>
            <a:ext cx="237744" cy="164592"/>
          </a:xfrm>
          <a:prstGeom prst="rightArrow">
            <a:avLst>
              <a:gd name="adj1" fmla="val 3500"/>
              <a:gd name="adj2" fmla="val 50000"/>
            </a:avLst>
          </a:prstGeom>
          <a:solidFill>
            <a:srgbClr val="2B5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1" name="Rounded Rectangle 17440"/>
          <p:cNvSpPr/>
          <p:nvPr/>
        </p:nvSpPr>
        <p:spPr>
          <a:xfrm>
            <a:off x="4151376" y="5062118"/>
            <a:ext cx="3617960" cy="753465"/>
          </a:xfrm>
          <a:prstGeom prst="roundRect">
            <a:avLst>
              <a:gd name="adj" fmla="val 3500"/>
            </a:avLst>
          </a:prstGeom>
          <a:solidFill>
            <a:srgbClr val="FBF4EA"/>
          </a:solidFill>
          <a:ln w="9525">
            <a:solidFill>
              <a:srgbClr val="EED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2" name="Rounded Rectangle 17441"/>
          <p:cNvSpPr/>
          <p:nvPr/>
        </p:nvSpPr>
        <p:spPr>
          <a:xfrm>
            <a:off x="8189960" y="5062118"/>
            <a:ext cx="3617960" cy="753465"/>
          </a:xfrm>
          <a:prstGeom prst="roundRect">
            <a:avLst>
              <a:gd name="adj" fmla="val 3500"/>
            </a:avLst>
          </a:prstGeom>
          <a:solidFill>
            <a:srgbClr val="EEF7F1"/>
          </a:solidFill>
          <a:ln w="9525">
            <a:solidFill>
              <a:srgbClr val="D4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3" name="TextBox 17442"/>
          <p:cNvSpPr txBox="1"/>
          <p:nvPr/>
        </p:nvSpPr>
        <p:spPr>
          <a:xfrm>
            <a:off x="4279392" y="5295595"/>
            <a:ext cx="3361928" cy="35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buNone/>
            </a:pPr>
            <a:r>
              <a:rPr sz="1000" b="0" i="0">
                <a:solidFill>
                  <a:srgbClr val="161C24"/>
                </a:solidFill>
                <a:latin typeface="Arial"/>
              </a:rPr>
              <a:t>Citizens hesitate to upload identity papers to an unfamiliar platform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8317976" y="5295595"/>
            <a:ext cx="3361928" cy="35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buNone/>
            </a:pPr>
            <a:r>
              <a:rPr sz="1000" b="0" i="0">
                <a:solidFill>
                  <a:srgbClr val="161C24"/>
                </a:solidFill>
                <a:latin typeface="Arial"/>
              </a:rPr>
              <a:t>Clear consent, no data sale and delete-on-request to earn that trust</a:t>
            </a:r>
          </a:p>
        </p:txBody>
      </p:sp>
      <p:sp>
        <p:nvSpPr>
          <p:cNvPr id="17445" name="Right Arrow 17444"/>
          <p:cNvSpPr/>
          <p:nvPr/>
        </p:nvSpPr>
        <p:spPr>
          <a:xfrm>
            <a:off x="7860776" y="5356555"/>
            <a:ext cx="237744" cy="164592"/>
          </a:xfrm>
          <a:prstGeom prst="rightArrow">
            <a:avLst>
              <a:gd name="adj1" fmla="val 3500"/>
              <a:gd name="adj2" fmla="val 50000"/>
            </a:avLst>
          </a:prstGeom>
          <a:solidFill>
            <a:srgbClr val="2B5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-47625"/>
            <a:ext cx="80010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2325C"/>
                </a:solidFill>
                <a:latin typeface="Arial"/>
              </a:rPr>
              <a:t>Error 429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84048" y="1097280"/>
            <a:ext cx="2705092" cy="1316736"/>
          </a:xfrm>
          <a:prstGeom prst="roundRect">
            <a:avLst>
              <a:gd name="adj" fmla="val 5000"/>
            </a:avLst>
          </a:prstGeom>
          <a:solidFill>
            <a:srgbClr val="12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1" name="Picture 17410" descr="lan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61872"/>
            <a:ext cx="274320" cy="27432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914400" y="1225295"/>
            <a:ext cx="20101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2300" b="1" i="0">
                <a:solidFill>
                  <a:srgbClr val="FFFFFF"/>
                </a:solidFill>
                <a:latin typeface="Arial"/>
              </a:rPr>
              <a:t>5,000+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48640" y="1755648"/>
            <a:ext cx="237590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050" b="0" i="0">
                <a:solidFill>
                  <a:srgbClr val="D5E3F7"/>
                </a:solidFill>
                <a:latin typeface="Arial"/>
              </a:rPr>
              <a:t>central and state schemes
brought into one place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290308" y="1097280"/>
            <a:ext cx="2705092" cy="1316736"/>
          </a:xfrm>
          <a:prstGeom prst="roundRect">
            <a:avLst>
              <a:gd name="adj" fmla="val 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5" name="Picture 17414" descr="pro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4900" y="1261872"/>
            <a:ext cx="274320" cy="274320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3820660" y="1225295"/>
            <a:ext cx="20101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2300" b="1" i="0">
                <a:solidFill>
                  <a:srgbClr val="FFFFFF"/>
                </a:solidFill>
                <a:latin typeface="Arial"/>
              </a:rPr>
              <a:t>1 profile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454900" y="1755648"/>
            <a:ext cx="237590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050" b="0" i="0">
                <a:solidFill>
                  <a:srgbClr val="D5E3F7"/>
                </a:solidFill>
                <a:latin typeface="Arial"/>
              </a:rPr>
              <a:t>unlocks every scheme the
citizen qualifies for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196568" y="1097280"/>
            <a:ext cx="2705092" cy="1316736"/>
          </a:xfrm>
          <a:prstGeom prst="roundRect">
            <a:avLst>
              <a:gd name="adj" fmla="val 5000"/>
            </a:avLst>
          </a:prstGeom>
          <a:solidFill>
            <a:srgbClr val="15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9" name="Picture 17418" descr="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1160" y="1261872"/>
            <a:ext cx="274320" cy="274320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6726920" y="1225295"/>
            <a:ext cx="20101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2300" b="1" i="0">
                <a:solidFill>
                  <a:srgbClr val="FFFFFF"/>
                </a:solidFill>
                <a:latin typeface="Arial"/>
              </a:rPr>
              <a:t>Minutes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361160" y="1755648"/>
            <a:ext cx="237590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050" b="0" i="0">
                <a:solidFill>
                  <a:srgbClr val="D5E3F7"/>
                </a:solidFill>
                <a:latin typeface="Arial"/>
              </a:rPr>
              <a:t>from sign-up to a
submission-ready kit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9102829" y="1097280"/>
            <a:ext cx="2705092" cy="1316736"/>
          </a:xfrm>
          <a:prstGeom prst="roundRect">
            <a:avLst>
              <a:gd name="adj" fmla="val 5000"/>
            </a:avLst>
          </a:prstGeom>
          <a:solidFill>
            <a:srgbClr val="C25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3" name="Picture 17422" descr="handHold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7421" y="1261872"/>
            <a:ext cx="274320" cy="274320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9633181" y="1225295"/>
            <a:ext cx="20101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2300" b="1" i="0">
                <a:solidFill>
                  <a:srgbClr val="FFFFFF"/>
                </a:solidFill>
                <a:latin typeface="Arial"/>
              </a:rPr>
              <a:t>₹0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9267421" y="1755648"/>
            <a:ext cx="237590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050" b="0" i="0">
                <a:solidFill>
                  <a:srgbClr val="D5E3F7"/>
                </a:solidFill>
                <a:latin typeface="Arial"/>
              </a:rPr>
              <a:t>cost to the citizen for
the core service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384048" y="2615184"/>
            <a:ext cx="5593064" cy="3346704"/>
          </a:xfrm>
          <a:prstGeom prst="roundRect">
            <a:avLst>
              <a:gd name="adj" fmla="val 3500"/>
            </a:avLst>
          </a:prstGeom>
          <a:solidFill>
            <a:srgbClr val="EFF5FC"/>
          </a:solidFill>
          <a:ln w="9525">
            <a:solidFill>
              <a:srgbClr val="D2E1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Oval 17426"/>
          <p:cNvSpPr/>
          <p:nvPr/>
        </p:nvSpPr>
        <p:spPr>
          <a:xfrm>
            <a:off x="621792" y="2834639"/>
            <a:ext cx="365760" cy="365760"/>
          </a:xfrm>
          <a:prstGeom prst="ellipse">
            <a:avLst/>
          </a:prstGeom>
          <a:solidFill>
            <a:srgbClr val="12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8" name="Picture 17427" descr="us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1" y="2926079"/>
            <a:ext cx="182880" cy="182880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1115568" y="2871215"/>
            <a:ext cx="4623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12325C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21792" y="3328415"/>
            <a:ext cx="950363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2E1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Oval 17430"/>
          <p:cNvSpPr/>
          <p:nvPr/>
        </p:nvSpPr>
        <p:spPr>
          <a:xfrm>
            <a:off x="968957" y="3401568"/>
            <a:ext cx="256032" cy="256032"/>
          </a:xfrm>
          <a:prstGeom prst="ellipse">
            <a:avLst/>
          </a:prstGeom>
          <a:solidFill>
            <a:srgbClr val="12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2" name="Picture 17431" descr="graduat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965" y="3465575"/>
            <a:ext cx="128016" cy="128016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649224" y="3712463"/>
            <a:ext cx="8954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4000"/>
              </a:lnSpc>
              <a:buNone/>
            </a:pPr>
            <a:r>
              <a:rPr sz="950" b="1" i="0">
                <a:solidFill>
                  <a:srgbClr val="12325C"/>
                </a:solidFill>
                <a:latin typeface="Arial"/>
              </a:rPr>
              <a:t>Students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1663595" y="3328415"/>
            <a:ext cx="950363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2E1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Oval 17434"/>
          <p:cNvSpPr/>
          <p:nvPr/>
        </p:nvSpPr>
        <p:spPr>
          <a:xfrm>
            <a:off x="2010761" y="3401568"/>
            <a:ext cx="256032" cy="256032"/>
          </a:xfrm>
          <a:prstGeom prst="ellipse">
            <a:avLst/>
          </a:prstGeom>
          <a:solidFill>
            <a:srgbClr val="15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6" name="Picture 17435" descr="seedl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74769" y="3465575"/>
            <a:ext cx="128016" cy="128016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1691027" y="3712463"/>
            <a:ext cx="8954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4000"/>
              </a:lnSpc>
              <a:buNone/>
            </a:pPr>
            <a:r>
              <a:rPr sz="950" b="1" i="0">
                <a:solidFill>
                  <a:srgbClr val="157A3D"/>
                </a:solidFill>
                <a:latin typeface="Arial"/>
              </a:rPr>
              <a:t>Farmers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2705398" y="3328415"/>
            <a:ext cx="950363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2E1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Oval 17438"/>
          <p:cNvSpPr/>
          <p:nvPr/>
        </p:nvSpPr>
        <p:spPr>
          <a:xfrm>
            <a:off x="3052564" y="3401568"/>
            <a:ext cx="256032" cy="256032"/>
          </a:xfrm>
          <a:prstGeom prst="ellipse">
            <a:avLst/>
          </a:prstGeom>
          <a:solidFill>
            <a:srgbClr val="C25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40" name="Picture 17439" descr="handHold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6572" y="3465575"/>
            <a:ext cx="128016" cy="128016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2732830" y="3712463"/>
            <a:ext cx="8954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4000"/>
              </a:lnSpc>
              <a:buNone/>
            </a:pPr>
            <a:r>
              <a:rPr sz="950" b="1" i="0">
                <a:solidFill>
                  <a:srgbClr val="C2530C"/>
                </a:solidFill>
                <a:latin typeface="Arial"/>
              </a:rPr>
              <a:t>Women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3747202" y="3328415"/>
            <a:ext cx="950363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2E1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3" name="Oval 17442"/>
          <p:cNvSpPr/>
          <p:nvPr/>
        </p:nvSpPr>
        <p:spPr>
          <a:xfrm>
            <a:off x="4094367" y="3401568"/>
            <a:ext cx="256032" cy="256032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44" name="Picture 17443" descr="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8375" y="3465575"/>
            <a:ext cx="128016" cy="128016"/>
          </a:xfrm>
          <a:prstGeom prst="rect">
            <a:avLst/>
          </a:prstGeom>
        </p:spPr>
      </p:pic>
      <p:sp>
        <p:nvSpPr>
          <p:cNvPr id="17445" name="TextBox 17444"/>
          <p:cNvSpPr txBox="1"/>
          <p:nvPr/>
        </p:nvSpPr>
        <p:spPr>
          <a:xfrm>
            <a:off x="3774634" y="3712463"/>
            <a:ext cx="8954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4000"/>
              </a:lnSpc>
              <a:buNone/>
            </a:pPr>
            <a:r>
              <a:rPr sz="950" b="1" i="0">
                <a:solidFill>
                  <a:srgbClr val="0E7490"/>
                </a:solidFill>
                <a:latin typeface="Arial"/>
              </a:rPr>
              <a:t>Seniors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4789005" y="3328415"/>
            <a:ext cx="950363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2E1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7" name="Oval 17446"/>
          <p:cNvSpPr/>
          <p:nvPr/>
        </p:nvSpPr>
        <p:spPr>
          <a:xfrm>
            <a:off x="5136171" y="3401568"/>
            <a:ext cx="256032" cy="25603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48" name="Picture 17447" descr="wheelchai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00179" y="3465575"/>
            <a:ext cx="128016" cy="128016"/>
          </a:xfrm>
          <a:prstGeom prst="rect">
            <a:avLst/>
          </a:prstGeom>
        </p:spPr>
      </p:pic>
      <p:sp>
        <p:nvSpPr>
          <p:cNvPr id="17449" name="TextBox 17448"/>
          <p:cNvSpPr txBox="1"/>
          <p:nvPr/>
        </p:nvSpPr>
        <p:spPr>
          <a:xfrm>
            <a:off x="4816437" y="3712463"/>
            <a:ext cx="8954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4000"/>
              </a:lnSpc>
              <a:buNone/>
            </a:pPr>
            <a:r>
              <a:rPr sz="950" b="1" i="0">
                <a:solidFill>
                  <a:srgbClr val="0070C0"/>
                </a:solidFill>
                <a:latin typeface="Arial"/>
              </a:rPr>
              <a:t>PwD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621792" y="4151376"/>
            <a:ext cx="5117576" cy="1572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304" indent="-146304" algn="l">
              <a:lnSpc>
                <a:spcPct val="94000"/>
              </a:lnSpc>
              <a:spcAft>
                <a:spcPts val="1195"/>
              </a:spcAft>
              <a:buFont typeface="Arial"/>
              <a:buChar char="•"/>
            </a:pPr>
            <a:r>
              <a:rPr sz="1300" b="1" i="0">
                <a:solidFill>
                  <a:srgbClr val="12325C"/>
                </a:solidFill>
                <a:latin typeface="Arial"/>
              </a:rPr>
              <a:t>Discovery — </a:t>
            </a:r>
            <a:r>
              <a:rPr sz="1300" b="0" i="0">
                <a:solidFill>
                  <a:srgbClr val="161C24"/>
                </a:solidFill>
                <a:latin typeface="Arial"/>
              </a:rPr>
              <a:t>days of searching scattered portals become minutes</a:t>
            </a:r>
          </a:p>
          <a:p>
            <a:pPr marL="146304" indent="-146304" algn="l">
              <a:lnSpc>
                <a:spcPct val="94000"/>
              </a:lnSpc>
              <a:spcAft>
                <a:spcPts val="1195"/>
              </a:spcAft>
              <a:buFont typeface="Arial"/>
              <a:buChar char="•"/>
            </a:pPr>
            <a:r>
              <a:rPr sz="1300" b="1" i="0">
                <a:solidFill>
                  <a:srgbClr val="12325C"/>
                </a:solidFill>
                <a:latin typeface="Arial"/>
              </a:rPr>
              <a:t>Fewer rejections — </a:t>
            </a:r>
            <a:r>
              <a:rPr sz="1300" b="0" i="0">
                <a:solidFill>
                  <a:srgbClr val="161C24"/>
                </a:solidFill>
                <a:latin typeface="Arial"/>
              </a:rPr>
              <a:t>papers are checked for fit before anything is filed</a:t>
            </a:r>
          </a:p>
          <a:p>
            <a:pPr marL="146304" indent="-146304" algn="l">
              <a:lnSpc>
                <a:spcPct val="94000"/>
              </a:lnSpc>
              <a:spcAft>
                <a:spcPts val="1195"/>
              </a:spcAft>
              <a:buFont typeface="Arial"/>
              <a:buChar char="•"/>
            </a:pPr>
            <a:r>
              <a:rPr sz="1300" b="1" i="0">
                <a:solidFill>
                  <a:srgbClr val="12325C"/>
                </a:solidFill>
                <a:latin typeface="Arial"/>
              </a:rPr>
              <a:t>Second chances — </a:t>
            </a:r>
            <a:r>
              <a:rPr sz="1300" b="0" i="0">
                <a:solidFill>
                  <a:srgbClr val="161C24"/>
                </a:solidFill>
                <a:latin typeface="Arial"/>
              </a:rPr>
              <a:t>life-event alerts reach people who stopped looking</a:t>
            </a:r>
          </a:p>
          <a:p>
            <a:pPr marL="146304" indent="-146304" algn="l">
              <a:lnSpc>
                <a:spcPct val="94000"/>
              </a:lnSpc>
              <a:buFont typeface="Arial"/>
              <a:buChar char="•"/>
            </a:pPr>
            <a:r>
              <a:rPr sz="1300" b="1" i="0">
                <a:solidFill>
                  <a:srgbClr val="12325C"/>
                </a:solidFill>
                <a:latin typeface="Arial"/>
              </a:rPr>
              <a:t>Reach — </a:t>
            </a:r>
            <a:r>
              <a:rPr sz="1300" b="0" i="0">
                <a:solidFill>
                  <a:srgbClr val="161C24"/>
                </a:solidFill>
                <a:latin typeface="Arial"/>
              </a:rPr>
              <a:t>an operator can run the same flow for a rural citizen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6214856" y="2615184"/>
            <a:ext cx="5593064" cy="3346704"/>
          </a:xfrm>
          <a:prstGeom prst="roundRect">
            <a:avLst>
              <a:gd name="adj" fmla="val 3500"/>
            </a:avLst>
          </a:prstGeom>
          <a:solidFill>
            <a:srgbClr val="EEF7F1"/>
          </a:solidFill>
          <a:ln w="9525">
            <a:solidFill>
              <a:srgbClr val="D4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2" name="Oval 17451"/>
          <p:cNvSpPr/>
          <p:nvPr/>
        </p:nvSpPr>
        <p:spPr>
          <a:xfrm>
            <a:off x="6452600" y="2834639"/>
            <a:ext cx="365760" cy="365760"/>
          </a:xfrm>
          <a:prstGeom prst="ellipse">
            <a:avLst/>
          </a:prstGeom>
          <a:solidFill>
            <a:srgbClr val="15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53" name="Picture 17452" descr="handshak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4040" y="2926079"/>
            <a:ext cx="182880" cy="182880"/>
          </a:xfrm>
          <a:prstGeom prst="rect">
            <a:avLst/>
          </a:prstGeom>
        </p:spPr>
      </p:pic>
      <p:sp>
        <p:nvSpPr>
          <p:cNvPr id="17454" name="TextBox 17453"/>
          <p:cNvSpPr txBox="1"/>
          <p:nvPr/>
        </p:nvSpPr>
        <p:spPr>
          <a:xfrm>
            <a:off x="6946376" y="2816352"/>
            <a:ext cx="4623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300" b="1" i="0">
                <a:solidFill>
                  <a:srgbClr val="157A3D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55" name="Oval 17454"/>
          <p:cNvSpPr/>
          <p:nvPr/>
        </p:nvSpPr>
        <p:spPr>
          <a:xfrm>
            <a:off x="6452600" y="3456432"/>
            <a:ext cx="329184" cy="329184"/>
          </a:xfrm>
          <a:prstGeom prst="ellipse">
            <a:avLst/>
          </a:prstGeom>
          <a:solidFill>
            <a:srgbClr val="12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56" name="Picture 17455" descr="us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896" y="3538727"/>
            <a:ext cx="164592" cy="164592"/>
          </a:xfrm>
          <a:prstGeom prst="rect">
            <a:avLst/>
          </a:prstGeom>
        </p:spPr>
      </p:pic>
      <p:sp>
        <p:nvSpPr>
          <p:cNvPr id="17457" name="TextBox 17456"/>
          <p:cNvSpPr txBox="1"/>
          <p:nvPr/>
        </p:nvSpPr>
        <p:spPr>
          <a:xfrm>
            <a:off x="6928088" y="3524935"/>
            <a:ext cx="4642088" cy="420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buNone/>
            </a:pPr>
            <a:r>
              <a:rPr sz="1150" b="1" i="0">
                <a:solidFill>
                  <a:srgbClr val="12325C"/>
                </a:solidFill>
                <a:latin typeface="Arial"/>
              </a:rPr>
              <a:t>Social — </a:t>
            </a:r>
            <a:r>
              <a:rPr sz="1150" b="0" i="0">
                <a:solidFill>
                  <a:srgbClr val="161C24"/>
                </a:solidFill>
                <a:latin typeface="Arial"/>
              </a:rPr>
              <a:t>entitlements reach the people they were written for, with less dependence on paid middlemen</a:t>
            </a:r>
          </a:p>
        </p:txBody>
      </p:sp>
      <p:sp>
        <p:nvSpPr>
          <p:cNvPr id="17458" name="Oval 17457"/>
          <p:cNvSpPr/>
          <p:nvPr/>
        </p:nvSpPr>
        <p:spPr>
          <a:xfrm>
            <a:off x="6452600" y="3923080"/>
            <a:ext cx="329184" cy="329184"/>
          </a:xfrm>
          <a:prstGeom prst="ellipse">
            <a:avLst/>
          </a:prstGeom>
          <a:solidFill>
            <a:srgbClr val="C25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59" name="Picture 17458" descr="rupe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4896" y="4005376"/>
            <a:ext cx="164592" cy="164592"/>
          </a:xfrm>
          <a:prstGeom prst="rect">
            <a:avLst/>
          </a:prstGeom>
        </p:spPr>
      </p:pic>
      <p:sp>
        <p:nvSpPr>
          <p:cNvPr id="17460" name="TextBox 17459"/>
          <p:cNvSpPr txBox="1"/>
          <p:nvPr/>
        </p:nvSpPr>
        <p:spPr>
          <a:xfrm>
            <a:off x="6928088" y="3991584"/>
            <a:ext cx="4642088" cy="420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buNone/>
            </a:pPr>
            <a:r>
              <a:rPr sz="1150" b="1" i="0">
                <a:solidFill>
                  <a:srgbClr val="C2530C"/>
                </a:solidFill>
                <a:latin typeface="Arial"/>
              </a:rPr>
              <a:t>Economic — </a:t>
            </a:r>
            <a:r>
              <a:rPr sz="1150" b="0" i="0">
                <a:solidFill>
                  <a:srgbClr val="161C24"/>
                </a:solidFill>
                <a:latin typeface="Arial"/>
              </a:rPr>
              <a:t>households recover benefits they already qualify for; cost per extra user stays near zero</a:t>
            </a:r>
          </a:p>
        </p:txBody>
      </p:sp>
      <p:sp>
        <p:nvSpPr>
          <p:cNvPr id="17461" name="Oval 17460"/>
          <p:cNvSpPr/>
          <p:nvPr/>
        </p:nvSpPr>
        <p:spPr>
          <a:xfrm>
            <a:off x="6452600" y="4389729"/>
            <a:ext cx="329184" cy="329184"/>
          </a:xfrm>
          <a:prstGeom prst="ellipse">
            <a:avLst/>
          </a:prstGeom>
          <a:solidFill>
            <a:srgbClr val="15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62" name="Picture 17461" descr="lea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4896" y="4472025"/>
            <a:ext cx="164592" cy="164592"/>
          </a:xfrm>
          <a:prstGeom prst="rect">
            <a:avLst/>
          </a:prstGeom>
        </p:spPr>
      </p:pic>
      <p:sp>
        <p:nvSpPr>
          <p:cNvPr id="17463" name="TextBox 17462"/>
          <p:cNvSpPr txBox="1"/>
          <p:nvPr/>
        </p:nvSpPr>
        <p:spPr>
          <a:xfrm>
            <a:off x="6928088" y="4458233"/>
            <a:ext cx="4642088" cy="420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buNone/>
            </a:pPr>
            <a:r>
              <a:rPr sz="1150" b="1" i="0">
                <a:solidFill>
                  <a:srgbClr val="157A3D"/>
                </a:solidFill>
                <a:latin typeface="Arial"/>
              </a:rPr>
              <a:t>Environmental — </a:t>
            </a:r>
            <a:r>
              <a:rPr sz="1150" b="0" i="0">
                <a:solidFill>
                  <a:srgbClr val="161C24"/>
                </a:solidFill>
                <a:latin typeface="Arial"/>
              </a:rPr>
              <a:t>a paperless vault and digital kit cut printing and repeated trips to government offices</a:t>
            </a:r>
          </a:p>
        </p:txBody>
      </p:sp>
      <p:sp>
        <p:nvSpPr>
          <p:cNvPr id="17464" name="Oval 17463"/>
          <p:cNvSpPr/>
          <p:nvPr/>
        </p:nvSpPr>
        <p:spPr>
          <a:xfrm>
            <a:off x="6452600" y="4856378"/>
            <a:ext cx="329184" cy="32918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65" name="Picture 17464" descr="lan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896" y="4938674"/>
            <a:ext cx="164592" cy="164592"/>
          </a:xfrm>
          <a:prstGeom prst="rect">
            <a:avLst/>
          </a:prstGeom>
        </p:spPr>
      </p:pic>
      <p:sp>
        <p:nvSpPr>
          <p:cNvPr id="17466" name="TextBox 17465"/>
          <p:cNvSpPr txBox="1"/>
          <p:nvPr/>
        </p:nvSpPr>
        <p:spPr>
          <a:xfrm>
            <a:off x="6928088" y="4924882"/>
            <a:ext cx="4642088" cy="420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buNone/>
            </a:pPr>
            <a:r>
              <a:rPr sz="1150" b="1" i="0">
                <a:solidFill>
                  <a:srgbClr val="0E7490"/>
                </a:solidFill>
                <a:latin typeface="Arial"/>
              </a:rPr>
              <a:t>Governance — </a:t>
            </a:r>
            <a:r>
              <a:rPr sz="1150" b="0" i="0">
                <a:solidFill>
                  <a:srgbClr val="161C24"/>
                </a:solidFill>
                <a:latin typeface="Arial"/>
              </a:rPr>
              <a:t>administrators get live analytics on demand, backlog, approval rates and document gaps</a:t>
            </a:r>
          </a:p>
        </p:txBody>
      </p:sp>
      <p:sp>
        <p:nvSpPr>
          <p:cNvPr id="17467" name="Oval 17466"/>
          <p:cNvSpPr/>
          <p:nvPr/>
        </p:nvSpPr>
        <p:spPr>
          <a:xfrm>
            <a:off x="6452600" y="5323027"/>
            <a:ext cx="329184" cy="3291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68" name="Picture 17467" descr="langu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34896" y="5405323"/>
            <a:ext cx="164592" cy="164592"/>
          </a:xfrm>
          <a:prstGeom prst="rect">
            <a:avLst/>
          </a:prstGeom>
        </p:spPr>
      </p:pic>
      <p:sp>
        <p:nvSpPr>
          <p:cNvPr id="17469" name="TextBox 17468"/>
          <p:cNvSpPr txBox="1"/>
          <p:nvPr/>
        </p:nvSpPr>
        <p:spPr>
          <a:xfrm>
            <a:off x="6928088" y="5391531"/>
            <a:ext cx="4642088" cy="420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buNone/>
            </a:pPr>
            <a:r>
              <a:rPr sz="1150" b="1" i="0">
                <a:solidFill>
                  <a:srgbClr val="0070C0"/>
                </a:solidFill>
                <a:latin typeface="Arial"/>
              </a:rPr>
              <a:t>Inclusion — </a:t>
            </a:r>
            <a:r>
              <a:rPr sz="1150" b="0" i="0">
                <a:solidFill>
                  <a:srgbClr val="161C24"/>
                </a:solidFill>
                <a:latin typeface="Arial"/>
              </a:rPr>
              <a:t>one Hindi and English flow serves the citizen directly or through an assisting operator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-47625"/>
            <a:ext cx="80010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2325C"/>
                </a:solidFill>
                <a:latin typeface="Arial"/>
              </a:rPr>
              <a:t>Error 429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Oval 17409"/>
          <p:cNvSpPr/>
          <p:nvPr/>
        </p:nvSpPr>
        <p:spPr>
          <a:xfrm>
            <a:off x="384048" y="1051560"/>
            <a:ext cx="292608" cy="292608"/>
          </a:xfrm>
          <a:prstGeom prst="ellipse">
            <a:avLst/>
          </a:prstGeom>
          <a:solidFill>
            <a:srgbClr val="12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1" name="Picture 17410" descr="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24712"/>
            <a:ext cx="146304" cy="146304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786384" y="1097280"/>
            <a:ext cx="1102153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12325C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84048" y="1536192"/>
            <a:ext cx="5593064" cy="3584448"/>
          </a:xfrm>
          <a:prstGeom prst="roundRect">
            <a:avLst>
              <a:gd name="adj" fmla="val 3500"/>
            </a:avLst>
          </a:prstGeom>
          <a:solidFill>
            <a:srgbClr val="EFF5FC"/>
          </a:solidFill>
          <a:ln w="9525">
            <a:solidFill>
              <a:srgbClr val="D2E1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Oval 17413"/>
          <p:cNvSpPr/>
          <p:nvPr/>
        </p:nvSpPr>
        <p:spPr>
          <a:xfrm>
            <a:off x="621792" y="1755648"/>
            <a:ext cx="365760" cy="365760"/>
          </a:xfrm>
          <a:prstGeom prst="ellipse">
            <a:avLst/>
          </a:prstGeom>
          <a:solidFill>
            <a:srgbClr val="12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5" name="Picture 17414" descr="land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1" y="1847088"/>
            <a:ext cx="182880" cy="182880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1115568" y="1792224"/>
            <a:ext cx="4623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12325C"/>
                </a:solidFill>
                <a:latin typeface="Arial"/>
              </a:rPr>
              <a:t>Government sources and scheme data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21792" y="2322576"/>
            <a:ext cx="5117576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lnSpc>
                <a:spcPct val="94000"/>
              </a:lnSpc>
              <a:spcAft>
                <a:spcPts val="100"/>
              </a:spcAft>
              <a:buFont typeface="Arial"/>
              <a:buChar char="•"/>
            </a:pPr>
            <a:r>
              <a:rPr sz="1150" b="1" i="0">
                <a:solidFill>
                  <a:srgbClr val="161C24"/>
                </a:solidFill>
                <a:latin typeface="Arial"/>
              </a:rPr>
              <a:t>myScheme — national scheme discovery platform</a:t>
            </a:r>
          </a:p>
          <a:p>
            <a:pPr marL="155448" indent="0" algn="l">
              <a:lnSpc>
                <a:spcPct val="94000"/>
              </a:lnSpc>
              <a:buNone/>
            </a:pPr>
            <a:r>
              <a:rPr sz="1100" b="0" i="1">
                <a:solidFill>
                  <a:srgbClr val="0070C0"/>
                </a:solidFill>
                <a:latin typeface="Arial"/>
                <a:hlinkClick r:id="rId6"/>
              </a:rPr>
              <a:t>myscheme.gov.in</a:t>
            </a:r>
          </a:p>
          <a:p>
            <a:pPr marL="155448" indent="-155448" algn="l">
              <a:lnSpc>
                <a:spcPct val="94000"/>
              </a:lnSpc>
              <a:spcBef>
                <a:spcPts val="713"/>
              </a:spcBef>
              <a:spcAft>
                <a:spcPts val="100"/>
              </a:spcAft>
              <a:buFont typeface="Arial"/>
              <a:buChar char="•"/>
            </a:pPr>
            <a:r>
              <a:rPr sz="1150" b="1" i="0">
                <a:solidFill>
                  <a:srgbClr val="161C24"/>
                </a:solidFill>
                <a:latin typeface="Arial"/>
              </a:rPr>
              <a:t>National Scholarship Portal</a:t>
            </a:r>
          </a:p>
          <a:p>
            <a:pPr marL="155448" indent="0" algn="l">
              <a:lnSpc>
                <a:spcPct val="94000"/>
              </a:lnSpc>
              <a:buNone/>
            </a:pPr>
            <a:r>
              <a:rPr sz="1100" b="0" i="1">
                <a:solidFill>
                  <a:srgbClr val="0070C0"/>
                </a:solidFill>
                <a:latin typeface="Arial"/>
                <a:hlinkClick r:id="rId7"/>
              </a:rPr>
              <a:t>scholarships.gov.in</a:t>
            </a:r>
          </a:p>
          <a:p>
            <a:pPr marL="155448" indent="-155448" algn="l">
              <a:lnSpc>
                <a:spcPct val="94000"/>
              </a:lnSpc>
              <a:spcBef>
                <a:spcPts val="713"/>
              </a:spcBef>
              <a:spcAft>
                <a:spcPts val="100"/>
              </a:spcAft>
              <a:buFont typeface="Arial"/>
              <a:buChar char="•"/>
            </a:pPr>
            <a:r>
              <a:rPr sz="1150" b="1" i="0">
                <a:solidFill>
                  <a:srgbClr val="161C24"/>
                </a:solidFill>
                <a:latin typeface="Arial"/>
              </a:rPr>
              <a:t>DBT Bharat — Direct Benefit Transfer Mission</a:t>
            </a:r>
          </a:p>
          <a:p>
            <a:pPr marL="155448" indent="0" algn="l">
              <a:lnSpc>
                <a:spcPct val="94000"/>
              </a:lnSpc>
              <a:buNone/>
            </a:pPr>
            <a:r>
              <a:rPr sz="1100" b="0" i="1">
                <a:solidFill>
                  <a:srgbClr val="0070C0"/>
                </a:solidFill>
                <a:latin typeface="Arial"/>
                <a:hlinkClick r:id="rId8"/>
              </a:rPr>
              <a:t>dbtbharat.gov.in</a:t>
            </a:r>
          </a:p>
          <a:p>
            <a:pPr marL="155448" indent="-155448" algn="l">
              <a:lnSpc>
                <a:spcPct val="94000"/>
              </a:lnSpc>
              <a:spcBef>
                <a:spcPts val="713"/>
              </a:spcBef>
              <a:spcAft>
                <a:spcPts val="100"/>
              </a:spcAft>
              <a:buFont typeface="Arial"/>
              <a:buChar char="•"/>
            </a:pPr>
            <a:r>
              <a:rPr sz="1150" b="1" i="0">
                <a:solidFill>
                  <a:srgbClr val="161C24"/>
                </a:solidFill>
                <a:latin typeface="Arial"/>
              </a:rPr>
              <a:t>DigiLocker — issued document framework</a:t>
            </a:r>
          </a:p>
          <a:p>
            <a:pPr marL="155448" indent="0" algn="l">
              <a:lnSpc>
                <a:spcPct val="94000"/>
              </a:lnSpc>
              <a:buNone/>
            </a:pPr>
            <a:r>
              <a:rPr sz="1100" b="0" i="1">
                <a:solidFill>
                  <a:srgbClr val="0070C0"/>
                </a:solidFill>
                <a:latin typeface="Arial"/>
                <a:hlinkClick r:id="rId9"/>
              </a:rPr>
              <a:t>digilocker.gov.in</a:t>
            </a:r>
          </a:p>
          <a:p>
            <a:pPr marL="155448" indent="-155448" algn="l">
              <a:lnSpc>
                <a:spcPct val="94000"/>
              </a:lnSpc>
              <a:spcBef>
                <a:spcPts val="713"/>
              </a:spcBef>
              <a:spcAft>
                <a:spcPts val="100"/>
              </a:spcAft>
              <a:buFont typeface="Arial"/>
              <a:buChar char="•"/>
            </a:pPr>
            <a:r>
              <a:rPr sz="1150" b="1" i="0">
                <a:solidFill>
                  <a:srgbClr val="161C24"/>
                </a:solidFill>
                <a:latin typeface="Arial"/>
              </a:rPr>
              <a:t>India.gov.in — schemes and services directory</a:t>
            </a:r>
          </a:p>
          <a:p>
            <a:pPr marL="155448" indent="0" algn="l">
              <a:lnSpc>
                <a:spcPct val="94000"/>
              </a:lnSpc>
              <a:buNone/>
            </a:pPr>
            <a:r>
              <a:rPr sz="1100" b="0" i="1">
                <a:solidFill>
                  <a:srgbClr val="0070C0"/>
                </a:solidFill>
                <a:latin typeface="Arial"/>
                <a:hlinkClick r:id="rId10"/>
              </a:rPr>
              <a:t>india.gov.in/schemes</a:t>
            </a:r>
          </a:p>
          <a:p>
            <a:pPr marL="155448" indent="-155448" algn="l">
              <a:lnSpc>
                <a:spcPct val="94000"/>
              </a:lnSpc>
              <a:spcBef>
                <a:spcPts val="713"/>
              </a:spcBef>
              <a:spcAft>
                <a:spcPts val="100"/>
              </a:spcAft>
              <a:buFont typeface="Arial"/>
              <a:buChar char="•"/>
            </a:pPr>
            <a:r>
              <a:rPr sz="1150" b="1" i="0">
                <a:solidFill>
                  <a:srgbClr val="161C24"/>
                </a:solidFill>
                <a:latin typeface="Arial"/>
              </a:rPr>
              <a:t>UIDAI — Aadhaar data protection guidance</a:t>
            </a:r>
          </a:p>
          <a:p>
            <a:pPr marL="155448" indent="0" algn="l">
              <a:lnSpc>
                <a:spcPct val="94000"/>
              </a:lnSpc>
              <a:buNone/>
            </a:pPr>
            <a:r>
              <a:rPr sz="1100" b="0" i="1">
                <a:solidFill>
                  <a:srgbClr val="0070C0"/>
                </a:solidFill>
                <a:latin typeface="Arial"/>
                <a:hlinkClick r:id="rId11"/>
              </a:rPr>
              <a:t>uidai.gov.in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214856" y="1536192"/>
            <a:ext cx="5593064" cy="3584448"/>
          </a:xfrm>
          <a:prstGeom prst="roundRect">
            <a:avLst>
              <a:gd name="adj" fmla="val 3500"/>
            </a:avLst>
          </a:prstGeom>
          <a:solidFill>
            <a:srgbClr val="EEF7F1"/>
          </a:solidFill>
          <a:ln w="9525">
            <a:solidFill>
              <a:srgbClr val="D4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Oval 17418"/>
          <p:cNvSpPr/>
          <p:nvPr/>
        </p:nvSpPr>
        <p:spPr>
          <a:xfrm>
            <a:off x="6452600" y="1755648"/>
            <a:ext cx="365760" cy="365760"/>
          </a:xfrm>
          <a:prstGeom prst="ellipse">
            <a:avLst/>
          </a:prstGeom>
          <a:solidFill>
            <a:srgbClr val="15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0" name="Picture 17419" descr="cod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4040" y="1847088"/>
            <a:ext cx="182880" cy="182880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6946376" y="1792224"/>
            <a:ext cx="4623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157A3D"/>
                </a:solidFill>
                <a:latin typeface="Arial"/>
              </a:rPr>
              <a:t>Technical research and documentation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452600" y="2322576"/>
            <a:ext cx="5117576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lnSpc>
                <a:spcPct val="94000"/>
              </a:lnSpc>
              <a:spcAft>
                <a:spcPts val="100"/>
              </a:spcAft>
              <a:buFont typeface="Arial"/>
              <a:buChar char="•"/>
            </a:pPr>
            <a:r>
              <a:rPr sz="1150" b="1" i="0">
                <a:solidFill>
                  <a:srgbClr val="161C24"/>
                </a:solidFill>
                <a:latin typeface="Arial"/>
              </a:rPr>
              <a:t>Tesseract.js — in-browser OCR engine</a:t>
            </a:r>
          </a:p>
          <a:p>
            <a:pPr marL="155448" indent="0" algn="l">
              <a:lnSpc>
                <a:spcPct val="94000"/>
              </a:lnSpc>
              <a:buNone/>
            </a:pPr>
            <a:r>
              <a:rPr sz="1100" b="0" i="1">
                <a:solidFill>
                  <a:srgbClr val="0070C0"/>
                </a:solidFill>
                <a:latin typeface="Arial"/>
                <a:hlinkClick r:id="rId13"/>
              </a:rPr>
              <a:t>tesseract.projectnaptha.com</a:t>
            </a:r>
          </a:p>
          <a:p>
            <a:pPr marL="155448" indent="-155448" algn="l">
              <a:lnSpc>
                <a:spcPct val="94000"/>
              </a:lnSpc>
              <a:spcBef>
                <a:spcPts val="713"/>
              </a:spcBef>
              <a:spcAft>
                <a:spcPts val="100"/>
              </a:spcAft>
              <a:buFont typeface="Arial"/>
              <a:buChar char="•"/>
            </a:pPr>
            <a:r>
              <a:rPr sz="1150" b="1" i="0">
                <a:solidFill>
                  <a:srgbClr val="161C24"/>
                </a:solidFill>
                <a:latin typeface="Arial"/>
              </a:rPr>
              <a:t>Groq — LLaMA-3.3-70B inference API</a:t>
            </a:r>
          </a:p>
          <a:p>
            <a:pPr marL="155448" indent="0" algn="l">
              <a:lnSpc>
                <a:spcPct val="94000"/>
              </a:lnSpc>
              <a:buNone/>
            </a:pPr>
            <a:r>
              <a:rPr sz="1100" b="0" i="1">
                <a:solidFill>
                  <a:srgbClr val="0070C0"/>
                </a:solidFill>
                <a:latin typeface="Arial"/>
                <a:hlinkClick r:id="rId14"/>
              </a:rPr>
              <a:t>console.groq.com/docs</a:t>
            </a:r>
          </a:p>
          <a:p>
            <a:pPr marL="155448" indent="-155448" algn="l">
              <a:lnSpc>
                <a:spcPct val="94000"/>
              </a:lnSpc>
              <a:spcBef>
                <a:spcPts val="713"/>
              </a:spcBef>
              <a:spcAft>
                <a:spcPts val="100"/>
              </a:spcAft>
              <a:buFont typeface="Arial"/>
              <a:buChar char="•"/>
            </a:pPr>
            <a:r>
              <a:rPr sz="1150" b="1" i="0">
                <a:solidFill>
                  <a:srgbClr val="161C24"/>
                </a:solidFill>
                <a:latin typeface="Arial"/>
              </a:rPr>
              <a:t>Supabase — Row-Level Security guide</a:t>
            </a:r>
          </a:p>
          <a:p>
            <a:pPr marL="155448" indent="0" algn="l">
              <a:lnSpc>
                <a:spcPct val="94000"/>
              </a:lnSpc>
              <a:buNone/>
            </a:pPr>
            <a:r>
              <a:rPr sz="1100" b="0" i="1">
                <a:solidFill>
                  <a:srgbClr val="0070C0"/>
                </a:solidFill>
                <a:latin typeface="Arial"/>
                <a:hlinkClick r:id="rId15"/>
              </a:rPr>
              <a:t>supabase.com/docs</a:t>
            </a:r>
          </a:p>
          <a:p>
            <a:pPr marL="155448" indent="-155448" algn="l">
              <a:lnSpc>
                <a:spcPct val="94000"/>
              </a:lnSpc>
              <a:spcBef>
                <a:spcPts val="713"/>
              </a:spcBef>
              <a:spcAft>
                <a:spcPts val="100"/>
              </a:spcAft>
              <a:buFont typeface="Arial"/>
              <a:buChar char="•"/>
            </a:pPr>
            <a:r>
              <a:rPr sz="1150" b="1" i="0">
                <a:solidFill>
                  <a:srgbClr val="161C24"/>
                </a:solidFill>
                <a:latin typeface="Arial"/>
              </a:rPr>
              <a:t>pdf-lib — PDF creation in JavaScript</a:t>
            </a:r>
          </a:p>
          <a:p>
            <a:pPr marL="155448" indent="0" algn="l">
              <a:lnSpc>
                <a:spcPct val="94000"/>
              </a:lnSpc>
              <a:buNone/>
            </a:pPr>
            <a:r>
              <a:rPr sz="1100" b="0" i="1">
                <a:solidFill>
                  <a:srgbClr val="0070C0"/>
                </a:solidFill>
                <a:latin typeface="Arial"/>
                <a:hlinkClick r:id="rId16"/>
              </a:rPr>
              <a:t>pdf-lib.js.org</a:t>
            </a:r>
          </a:p>
          <a:p>
            <a:pPr marL="155448" indent="-155448" algn="l">
              <a:lnSpc>
                <a:spcPct val="94000"/>
              </a:lnSpc>
              <a:spcBef>
                <a:spcPts val="713"/>
              </a:spcBef>
              <a:spcAft>
                <a:spcPts val="100"/>
              </a:spcAft>
              <a:buFont typeface="Arial"/>
              <a:buChar char="•"/>
            </a:pPr>
            <a:r>
              <a:rPr sz="1150" b="1" i="0">
                <a:solidFill>
                  <a:srgbClr val="161C24"/>
                </a:solidFill>
                <a:latin typeface="Arial"/>
              </a:rPr>
              <a:t>Next.js 14 — App Router documentation</a:t>
            </a:r>
          </a:p>
          <a:p>
            <a:pPr marL="155448" indent="0" algn="l">
              <a:lnSpc>
                <a:spcPct val="94000"/>
              </a:lnSpc>
              <a:buNone/>
            </a:pPr>
            <a:r>
              <a:rPr sz="1100" b="0" i="1">
                <a:solidFill>
                  <a:srgbClr val="0070C0"/>
                </a:solidFill>
                <a:latin typeface="Arial"/>
                <a:hlinkClick r:id="rId17"/>
              </a:rPr>
              <a:t>nextjs.org/docs</a:t>
            </a:r>
          </a:p>
          <a:p>
            <a:pPr marL="155448" indent="-155448" algn="l">
              <a:lnSpc>
                <a:spcPct val="94000"/>
              </a:lnSpc>
              <a:spcBef>
                <a:spcPts val="713"/>
              </a:spcBef>
              <a:spcAft>
                <a:spcPts val="100"/>
              </a:spcAft>
              <a:buFont typeface="Arial"/>
              <a:buChar char="•"/>
            </a:pPr>
            <a:r>
              <a:rPr sz="1150" b="1" i="0">
                <a:solidFill>
                  <a:srgbClr val="161C24"/>
                </a:solidFill>
                <a:latin typeface="Arial"/>
              </a:rPr>
              <a:t>Vercel — serverless deployment platform</a:t>
            </a:r>
          </a:p>
          <a:p>
            <a:pPr marL="155448" indent="0" algn="l">
              <a:lnSpc>
                <a:spcPct val="94000"/>
              </a:lnSpc>
              <a:buNone/>
            </a:pPr>
            <a:r>
              <a:rPr sz="1100" b="0" i="1">
                <a:solidFill>
                  <a:srgbClr val="0070C0"/>
                </a:solidFill>
                <a:latin typeface="Arial"/>
                <a:hlinkClick r:id="rId18"/>
              </a:rPr>
              <a:t>vercel.com/docs</a:t>
            </a:r>
          </a:p>
        </p:txBody>
      </p:sp>
      <p:sp>
        <p:nvSpPr>
          <p:cNvPr id="17423" name="Rounded Rectangle 17422">
            <a:hlinkClick r:id="rId19"/>
          </p:cNvPr>
          <p:cNvSpPr/>
          <p:nvPr/>
        </p:nvSpPr>
        <p:spPr>
          <a:xfrm>
            <a:off x="384048" y="5248656"/>
            <a:ext cx="5839952" cy="731520"/>
          </a:xfrm>
          <a:prstGeom prst="roundRect">
            <a:avLst>
              <a:gd name="adj" fmla="val 6000"/>
            </a:avLst>
          </a:prstGeom>
          <a:solidFill>
            <a:srgbClr val="12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Oval 17423">
            <a:hlinkClick r:id="rId19"/>
          </p:cNvPr>
          <p:cNvSpPr/>
          <p:nvPr/>
        </p:nvSpPr>
        <p:spPr>
          <a:xfrm>
            <a:off x="621792" y="5394960"/>
            <a:ext cx="438912" cy="438912"/>
          </a:xfrm>
          <a:prstGeom prst="ellipse">
            <a:avLst/>
          </a:prstGeom>
          <a:solidFill>
            <a:srgbClr val="2B5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5" name="Picture 17424" descr="play.png">
            <a:hlinkClick r:id="rId19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1519" y="5504688"/>
            <a:ext cx="219456" cy="219456"/>
          </a:xfrm>
          <a:prstGeom prst="rect">
            <a:avLst/>
          </a:prstGeom>
        </p:spPr>
      </p:pic>
      <p:sp>
        <p:nvSpPr>
          <p:cNvPr id="17426" name="TextBox 17425">
            <a:hlinkClick r:id="rId19"/>
          </p:cNvPr>
          <p:cNvSpPr txBox="1"/>
          <p:nvPr/>
        </p:nvSpPr>
        <p:spPr>
          <a:xfrm>
            <a:off x="1207008" y="5413248"/>
            <a:ext cx="465123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200"/>
              </a:spcAft>
              <a:buNone/>
            </a:pPr>
            <a:r>
              <a:rPr sz="1150" b="1" i="0">
                <a:solidFill>
                  <a:srgbClr val="D5E3F7"/>
                </a:solidFill>
                <a:latin typeface="Arial"/>
              </a:rPr>
              <a:t>Video walkthrough</a:t>
            </a:r>
          </a:p>
          <a:p>
            <a:pPr algn="l">
              <a:lnSpc>
                <a:spcPct val="94000"/>
              </a:lnSpc>
              <a:buNone/>
            </a:pPr>
            <a:r>
              <a:rPr sz="1400" b="1" i="0">
                <a:solidFill>
                  <a:srgbClr val="9FCEFF"/>
                </a:solidFill>
                <a:latin typeface="Arial"/>
              </a:rPr>
              <a:t>youtu.be/K8FrSU-rOlc</a:t>
            </a:r>
          </a:p>
        </p:txBody>
      </p:sp>
      <p:sp>
        <p:nvSpPr>
          <p:cNvPr id="17427" name="Rounded Rectangle 17426">
            <a:hlinkClick r:id="rId21"/>
          </p:cNvPr>
          <p:cNvSpPr/>
          <p:nvPr/>
        </p:nvSpPr>
        <p:spPr>
          <a:xfrm>
            <a:off x="5967968" y="5248656"/>
            <a:ext cx="5839952" cy="731520"/>
          </a:xfrm>
          <a:prstGeom prst="roundRect">
            <a:avLst>
              <a:gd name="adj" fmla="val 6000"/>
            </a:avLst>
          </a:prstGeom>
          <a:solidFill>
            <a:srgbClr val="12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Oval 17427">
            <a:hlinkClick r:id="rId21"/>
          </p:cNvPr>
          <p:cNvSpPr/>
          <p:nvPr/>
        </p:nvSpPr>
        <p:spPr>
          <a:xfrm>
            <a:off x="6333728" y="5394960"/>
            <a:ext cx="438912" cy="438912"/>
          </a:xfrm>
          <a:prstGeom prst="ellipse">
            <a:avLst/>
          </a:prstGeom>
          <a:solidFill>
            <a:srgbClr val="2B5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9" name="Picture 17428" descr="globe.png">
            <a:hlinkClick r:id="rId21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43456" y="5504688"/>
            <a:ext cx="219456" cy="219456"/>
          </a:xfrm>
          <a:prstGeom prst="rect">
            <a:avLst/>
          </a:prstGeom>
        </p:spPr>
      </p:pic>
      <p:sp>
        <p:nvSpPr>
          <p:cNvPr id="17430" name="TextBox 17429">
            <a:hlinkClick r:id="rId21"/>
          </p:cNvPr>
          <p:cNvSpPr txBox="1"/>
          <p:nvPr/>
        </p:nvSpPr>
        <p:spPr>
          <a:xfrm>
            <a:off x="6918944" y="5413248"/>
            <a:ext cx="465123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200"/>
              </a:spcAft>
              <a:buNone/>
            </a:pPr>
            <a:r>
              <a:rPr sz="1150" b="1" i="0">
                <a:solidFill>
                  <a:srgbClr val="D5E3F7"/>
                </a:solidFill>
                <a:latin typeface="Arial"/>
              </a:rPr>
              <a:t>Live demo</a:t>
            </a:r>
          </a:p>
          <a:p>
            <a:pPr algn="l">
              <a:lnSpc>
                <a:spcPct val="94000"/>
              </a:lnSpc>
              <a:buNone/>
            </a:pPr>
            <a:r>
              <a:rPr sz="1400" b="1" i="0">
                <a:solidFill>
                  <a:srgbClr val="9FCEFF"/>
                </a:solidFill>
                <a:latin typeface="Arial"/>
              </a:rPr>
              <a:t>saral-sahayta.vercel.app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7505</TotalTime>
  <Words>1008</Words>
  <Application>Microsoft Office PowerPoint</Application>
  <PresentationFormat>Widescreen</PresentationFormat>
  <Paragraphs>147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SARAL SAHAYTA – UNIVERSAL SCHEME GATEWAY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YAAHVI PAREKH</cp:lastModifiedBy>
  <cp:revision>150</cp:revision>
  <dcterms:created xsi:type="dcterms:W3CDTF">2013-12-12T18:46:50Z</dcterms:created>
  <dcterms:modified xsi:type="dcterms:W3CDTF">2026-08-23T05:40:57Z</dcterms:modified>
  <cp:category/>
</cp:coreProperties>
</file>